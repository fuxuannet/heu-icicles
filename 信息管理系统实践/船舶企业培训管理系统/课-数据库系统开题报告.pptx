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0"/>
  </p:notesMasterIdLst>
  <p:sldIdLst>
    <p:sldId id="343" r:id="rId3"/>
    <p:sldId id="258" r:id="rId4"/>
    <p:sldId id="257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7" r:id="rId22"/>
    <p:sldId id="308" r:id="rId23"/>
    <p:sldId id="309" r:id="rId24"/>
    <p:sldId id="310" r:id="rId25"/>
    <p:sldId id="312" r:id="rId26"/>
    <p:sldId id="313" r:id="rId27"/>
    <p:sldId id="314" r:id="rId28"/>
    <p:sldId id="315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4F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419" autoAdjust="0"/>
  </p:normalViewPr>
  <p:slideViewPr>
    <p:cSldViewPr snapToGrid="0">
      <p:cViewPr varScale="1">
        <p:scale>
          <a:sx n="84" d="100"/>
          <a:sy n="84" d="100"/>
        </p:scale>
        <p:origin x="1596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424E6-E324-416C-A9A2-1E065253C940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E510E-514B-4DF0-90D1-C035813F6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238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286D78-31DF-493B-968A-39C1B250695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275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本次汇报将围绕七个核心部分展开：首先是项目背景与痛点分析，接着介绍三大核心创新点，然后详解技术架构和数据集构建过程，中间会进行产品功能演示，最后呈现应用价值总结和团队介绍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9B85C0-450C-4D42-A7D4-D29BF00AA9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958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F3951-467F-B69A-43EA-E7666B0E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DC2212-BA62-C08E-2ED8-8E317ECBE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D5C530-C8E8-6B74-19E3-3E255E82F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本次汇报将围绕七个核心部分展开：首先是项目背景与痛点分析，接着介绍三大核心创新点，然后详解技术架构和数据集构建过程，中间会进行产品功能演示，最后呈现应用价值总结和团队介绍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295810-28CE-970A-86C3-789A6BF8F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9B85C0-450C-4D42-A7D4-D29BF00AA9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239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E510E-514B-4DF0-90D1-C035813F6BC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808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E510E-514B-4DF0-90D1-C035813F6BC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029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B62AF-BB0D-FC71-E31A-F8D5636BE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E371C5-B77A-B8D8-902F-C290F3229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9DFE4E-12B2-FAFA-B631-796FD56E8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本次汇报将围绕七个核心部分展开：首先是项目背景与痛点分析，接着介绍三大核心创新点，然后详解技术架构和数据集构建过程，中间会进行产品功能演示，最后呈现应用价值总结和团队介绍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4CA540-CE47-54B4-C287-9C0DA0D84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9B85C0-450C-4D42-A7D4-D29BF00AA9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053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E510E-514B-4DF0-90D1-C035813F6BC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03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为什么使用视图？</a:t>
            </a:r>
          </a:p>
          <a:p>
            <a:r>
              <a:rPr lang="zh-CN" altLang="en-US" dirty="0"/>
              <a:t>课程、成绩之类是动态更新的，每次都需要重新计算，单独建表的维护成本很高。</a:t>
            </a:r>
          </a:p>
          <a:p>
            <a:r>
              <a:rPr lang="zh-CN" altLang="en-US" dirty="0"/>
              <a:t>如果使用触发器来计算的话，那员工每上完一门课，触发器就要按照重新折合成绩来计算，计算过于频繁，而且对于总体来说是无意义的，因为微小的改动不太影响全局的变化。</a:t>
            </a:r>
            <a:endParaRPr lang="en-US" altLang="zh-CN" dirty="0"/>
          </a:p>
          <a:p>
            <a:r>
              <a:rPr lang="zh-CN" altLang="en-US" dirty="0"/>
              <a:t>并且从需求上来考虑，是没有必要的，得分还有课表没有太高的实时性要求和存储到数据库的要求，所以现用现查即可。</a:t>
            </a:r>
          </a:p>
          <a:p>
            <a:r>
              <a:rPr lang="zh-CN" altLang="en-US" dirty="0"/>
              <a:t>所以使用视图，现用现查现计算，结果可以保存到前端缓存，等需要更新的时候再重新向后端发送请求去做计算。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E510E-514B-4DF0-90D1-C035813F6BC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279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A4CEA-F081-AC20-B033-7477A773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95CEC5-3012-02BB-7D10-5E8188C99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E42FF3-8D19-E06D-0B4B-ACF649922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为什么使用视图？</a:t>
            </a:r>
          </a:p>
          <a:p>
            <a:r>
              <a:rPr lang="zh-CN" altLang="en-US" dirty="0"/>
              <a:t>课程、成绩之类是动态更新的，每次都需要重新计算，单独建表的维护成本很高。</a:t>
            </a:r>
          </a:p>
          <a:p>
            <a:r>
              <a:rPr lang="zh-CN" altLang="en-US" dirty="0"/>
              <a:t>如果使用触发器来计算的话，那员工每上完一门课，触发器就要按照重新折合成绩来计算，计算过于频繁，而且对于总体来说是无意义的，因为微小的改动不太影响全局的变化。</a:t>
            </a:r>
          </a:p>
          <a:p>
            <a:r>
              <a:rPr lang="zh-CN" altLang="en-US" dirty="0"/>
              <a:t>所以使用视图，现用现查现计算，结果可以保存到前端缓存，等需要更新的时候再重新向后端发送请求去做计算。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D4C121-4861-31BA-4456-B107A96A1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E510E-514B-4DF0-90D1-C035813F6BC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646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1CC4F-DB3C-A35C-2F85-1A141EE85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DDB0AE-65B3-FED5-699A-90C5AEDAF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6C1AF2-F63D-E300-9013-F7D59C9FB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为什么使用视图？</a:t>
            </a:r>
          </a:p>
          <a:p>
            <a:r>
              <a:rPr lang="zh-CN" altLang="en-US" dirty="0"/>
              <a:t>课程、成绩之类是动态更新的，每次都需要重新计算，单独建表的维护成本很高。</a:t>
            </a:r>
          </a:p>
          <a:p>
            <a:r>
              <a:rPr lang="zh-CN" altLang="en-US" dirty="0"/>
              <a:t>如果使用触发器来计算的话，那员工每上完一门课，触发器就要按照重新折合成绩来计算，计算过于频繁，而且对于总体来说是无意义的，因为微小的改动不太影响全局的变化。</a:t>
            </a:r>
          </a:p>
          <a:p>
            <a:r>
              <a:rPr lang="zh-CN" altLang="en-US" dirty="0"/>
              <a:t>所以使用视图，现用现查现计算，结果可以保存到前端缓存，等需要更新的时候再重新向后端发送请求去做计算。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E80E9E-0254-E448-9DBD-C3577F9CBB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E510E-514B-4DF0-90D1-C035813F6BC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845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0A304-1926-691C-D5CE-7393673A7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739E24-18D3-0742-84F2-B7483FEB2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D2EB86-F590-81CF-7249-5F48A65E1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为什么使用视图？</a:t>
            </a:r>
          </a:p>
          <a:p>
            <a:r>
              <a:rPr lang="zh-CN" altLang="en-US" dirty="0"/>
              <a:t>课程、成绩之类是动态更新的，每次都需要重新计算，单独建表的维护成本很高。</a:t>
            </a:r>
          </a:p>
          <a:p>
            <a:r>
              <a:rPr lang="zh-CN" altLang="en-US" dirty="0"/>
              <a:t>如果使用触发器来计算的话，那员工每上完一门课，触发器就要按照重新折合成绩来计算，计算过于频繁，而且对于总体来说是无意义的，因为微小的改动不太影响全局的变化。</a:t>
            </a:r>
          </a:p>
          <a:p>
            <a:r>
              <a:rPr lang="zh-CN" altLang="en-US" dirty="0"/>
              <a:t>所以使用视图，现用现查现计算，结果可以保存到前端缓存，等需要更新的时候再重新向后端发送请求去做计算。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9F8D29-F231-D82B-6AA9-90A2A2A0C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E510E-514B-4DF0-90D1-C035813F6BC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431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FE10B-8E64-AFC1-92C6-F7900ABE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CF1558-7334-1641-BF4A-6C3FDE22C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706751-61D5-EC39-5E7E-FB15CAFA6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为什么使用视图？</a:t>
            </a:r>
          </a:p>
          <a:p>
            <a:r>
              <a:rPr lang="zh-CN" altLang="en-US" dirty="0"/>
              <a:t>课程、成绩之类是动态更新的，每次都需要重新计算，单独建表的维护成本很高。</a:t>
            </a:r>
          </a:p>
          <a:p>
            <a:r>
              <a:rPr lang="zh-CN" altLang="en-US" dirty="0"/>
              <a:t>如果使用触发器来计算的话，那员工每上完一门课，触发器就要按照重新折合成绩来计算，计算过于频繁，而且对于总体来说是无意义的，因为微小的改动不太影响全局的变化。</a:t>
            </a:r>
          </a:p>
          <a:p>
            <a:r>
              <a:rPr lang="zh-CN" altLang="en-US" dirty="0"/>
              <a:t>所以使用视图，现用现查现计算，结果可以保存到前端缓存，等需要更新的时候再重新向后端发送请求去做计算。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494503-CA85-5A86-6877-F86EF5B36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E510E-514B-4DF0-90D1-C035813F6BC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407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F35A2-DB5C-7992-D40A-D2B40A8A7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9CA561-ECE5-593F-ECD9-BAD5781D3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E4E2F1-59C3-70C6-3E36-497BBD878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为什么使用视图？</a:t>
            </a:r>
          </a:p>
          <a:p>
            <a:r>
              <a:rPr lang="zh-CN" altLang="en-US" dirty="0"/>
              <a:t>课程、成绩之类是动态更新的，每次都需要重新计算，单独建表的维护成本很高。</a:t>
            </a:r>
          </a:p>
          <a:p>
            <a:r>
              <a:rPr lang="zh-CN" altLang="en-US" dirty="0"/>
              <a:t>如果使用触发器来计算的话，那员工每上完一门课，触发器就要按照重新折合成绩来计算，计算过于频繁，而且对于总体来说是无意义的，因为微小的改动不太影响全局的变化。</a:t>
            </a:r>
          </a:p>
          <a:p>
            <a:r>
              <a:rPr lang="zh-CN" altLang="en-US" dirty="0"/>
              <a:t>所以使用视图，现用现查现计算，结果可以保存到前端缓存，等需要更新的时候再重新向后端发送请求去做计算。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DDC089-8FB7-2BA9-B93E-FDF9537AF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E510E-514B-4DF0-90D1-C035813F6BC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0880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A6ECB-2F2F-BEEB-B935-4735D3285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FC6C71-AA35-23B3-10C4-BA2706F75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FA9656-3F67-3D7E-3D14-E5CCEB445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本次汇报将围绕七个核心部分展开：首先是项目背景与痛点分析，接着介绍三大核心创新点，然后详解技术架构和数据集构建过程，中间会进行产品功能演示，最后呈现应用价值总结和团队介绍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43EFAD-65BA-110F-18DC-E7FCD554C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9B85C0-450C-4D42-A7D4-D29BF00AA9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01006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809C9-04C1-A515-E4ED-5DE38A8F7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121F87-463A-638D-8C02-9DD9D7DC9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0D9DFF-4C37-221A-E48B-B8A1D7F6D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为什么使用视图？</a:t>
            </a:r>
          </a:p>
          <a:p>
            <a:r>
              <a:rPr lang="zh-CN" altLang="en-US" dirty="0"/>
              <a:t>课程、成绩之类是动态更新的，每次都需要重新计算，单独建表的维护成本很高。</a:t>
            </a:r>
          </a:p>
          <a:p>
            <a:r>
              <a:rPr lang="zh-CN" altLang="en-US" dirty="0"/>
              <a:t>如果使用触发器来计算的话，那员工每上完一门课，触发器就要按照重新折合成绩来计算，计算过于频繁，而且对于总体来说是无意义的，因为微小的改动不太影响全局的变化。</a:t>
            </a:r>
          </a:p>
          <a:p>
            <a:r>
              <a:rPr lang="zh-CN" altLang="en-US" dirty="0"/>
              <a:t>所以使用视图，现用现查现计算，结果可以保存到前端缓存，等需要更新的时候再重新向后端发送请求去做计算。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D17263-9E04-C872-DB3C-0AEE86680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8E510E-514B-4DF0-90D1-C035813F6BC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1610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4573B-4EBE-304D-595E-1447126DF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1B7B0A-8A76-85F0-EBAA-D17E71EE1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3E0F88-A385-9CF4-0BFF-01121312C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为什么使用视图？</a:t>
            </a:r>
          </a:p>
          <a:p>
            <a:r>
              <a:rPr lang="zh-CN" altLang="en-US" dirty="0"/>
              <a:t>课程、成绩之类是动态更新的，每次都需要重新计算，单独建表的维护成本很高。</a:t>
            </a:r>
          </a:p>
          <a:p>
            <a:r>
              <a:rPr lang="zh-CN" altLang="en-US" dirty="0"/>
              <a:t>如果使用触发器来计算的话，那员工每上完一门课，触发器就要按照重新折合成绩来计算，计算过于频繁，而且对于总体来说是无意义的，因为微小的改动不太影响全局的变化。</a:t>
            </a:r>
          </a:p>
          <a:p>
            <a:r>
              <a:rPr lang="zh-CN" altLang="en-US" dirty="0"/>
              <a:t>所以使用视图，现用现查现计算，结果可以保存到前端缓存，等需要更新的时候再重新向后端发送请求去做计算。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C62CA0-ED09-C7EB-957F-81A92F921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8E510E-514B-4DF0-90D1-C035813F6BC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30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B8D0D-EEBA-356C-F8BE-0D592CF9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933EC1-73DA-6BB0-AA13-A57F25A67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96D39F-310C-EFA2-F6BD-755B31287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为什么使用视图？</a:t>
            </a:r>
          </a:p>
          <a:p>
            <a:r>
              <a:rPr lang="zh-CN" altLang="en-US" dirty="0"/>
              <a:t>课程、成绩之类是动态更新的，每次都需要重新计算，单独建表的维护成本很高。</a:t>
            </a:r>
          </a:p>
          <a:p>
            <a:r>
              <a:rPr lang="zh-CN" altLang="en-US" dirty="0"/>
              <a:t>如果使用触发器来计算的话，那员工每上完一门课，触发器就要按照重新折合成绩来计算，计算过于频繁，而且对于总体来说是无意义的，因为微小的改动不太影响全局的变化。</a:t>
            </a:r>
          </a:p>
          <a:p>
            <a:r>
              <a:rPr lang="zh-CN" altLang="en-US" dirty="0"/>
              <a:t>所以使用视图，现用现查现计算，结果可以保存到前端缓存，等需要更新的时候再重新向后端发送请求去做计算。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83769A-61B9-BFCA-3182-1F4D0A5DA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8E510E-514B-4DF0-90D1-C035813F6BC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6253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17C36-DB0B-49A3-6BDF-08B62627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54E443-4D4C-27C9-07DC-8A5066C1A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D4504D-B0B9-9EB8-E70C-4168683D9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为什么使用视图？</a:t>
            </a:r>
          </a:p>
          <a:p>
            <a:r>
              <a:rPr lang="zh-CN" altLang="en-US" dirty="0"/>
              <a:t>课程、成绩之类是动态更新的，每次都需要重新计算，单独建表的维护成本很高。</a:t>
            </a:r>
          </a:p>
          <a:p>
            <a:r>
              <a:rPr lang="zh-CN" altLang="en-US" dirty="0"/>
              <a:t>如果使用触发器来计算的话，那员工每上完一门课，触发器就要按照重新折合成绩来计算，计算过于频繁，而且对于总体来说是无意义的，因为微小的改动不太影响全局的变化。</a:t>
            </a:r>
          </a:p>
          <a:p>
            <a:r>
              <a:rPr lang="zh-CN" altLang="en-US" dirty="0"/>
              <a:t>所以使用视图，现用现查现计算，结果可以保存到前端缓存，等需要更新的时候再重新向后端发送请求去做计算。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5912D4-5D03-1AF2-2A6E-AB7F1E5E3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8E510E-514B-4DF0-90D1-C035813F6BC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82985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8F4AA-E393-8EF0-E121-834D8481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62D78E-F81F-4EB5-35AE-BE6D21E0F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C46FB4-E11A-A76C-703D-B3B7B15B4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为什么使用视图？</a:t>
            </a:r>
          </a:p>
          <a:p>
            <a:r>
              <a:rPr lang="zh-CN" altLang="en-US" dirty="0"/>
              <a:t>课程、成绩之类是动态更新的，每次都需要重新计算，单独建表的维护成本很高。</a:t>
            </a:r>
          </a:p>
          <a:p>
            <a:r>
              <a:rPr lang="zh-CN" altLang="en-US" dirty="0"/>
              <a:t>如果使用触发器来计算的话，那员工每上完一门课，触发器就要按照重新折合成绩来计算，计算过于频繁，而且对于总体来说是无意义的，因为微小的改动不太影响全局的变化。</a:t>
            </a:r>
          </a:p>
          <a:p>
            <a:r>
              <a:rPr lang="zh-CN" altLang="en-US" dirty="0"/>
              <a:t>所以使用视图，现用现查现计算，结果可以保存到前端缓存，等需要更新的时候再重新向后端发送请求去做计算。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E08511-4A60-0CBB-F27D-9621B2779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8E510E-514B-4DF0-90D1-C035813F6BC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50552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67B4-8981-D5DB-6D66-F051C0B69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E921C2-BF95-AADD-23D0-A360D6D0D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98EC91-35ED-5ECF-9F45-60434AF2A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为什么使用视图？</a:t>
            </a:r>
          </a:p>
          <a:p>
            <a:r>
              <a:rPr lang="zh-CN" altLang="en-US" dirty="0"/>
              <a:t>课程、成绩之类是动态更新的，每次都需要重新计算，单独建表的维护成本很高。</a:t>
            </a:r>
          </a:p>
          <a:p>
            <a:r>
              <a:rPr lang="zh-CN" altLang="en-US" dirty="0"/>
              <a:t>如果使用触发器来计算的话，那员工每上完一门课，触发器就要按照重新折合成绩来计算，计算过于频繁，而且对于总体来说是无意义的，因为微小的改动不太影响全局的变化。</a:t>
            </a:r>
          </a:p>
          <a:p>
            <a:r>
              <a:rPr lang="zh-CN" altLang="en-US" dirty="0"/>
              <a:t>所以使用视图，现用现查现计算，结果可以保存到前端缓存，等需要更新的时候再重新向后端发送请求去做计算。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B6196B-D903-1CD5-CA47-26B79D175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8E510E-514B-4DF0-90D1-C035813F6BC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46160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67A2C-0A84-A106-D043-6A5D1818C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992B3F-D701-5A55-7F39-0AD1E57C9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12FCED-467D-47DD-BE08-B5B587D0E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为什么使用视图？</a:t>
            </a:r>
          </a:p>
          <a:p>
            <a:r>
              <a:rPr lang="zh-CN" altLang="en-US" dirty="0"/>
              <a:t>课程、成绩之类是动态更新的，每次都需要重新计算，单独建表的维护成本很高。</a:t>
            </a:r>
          </a:p>
          <a:p>
            <a:r>
              <a:rPr lang="zh-CN" altLang="en-US" dirty="0"/>
              <a:t>如果使用触发器来计算的话，那员工每上完一门课，触发器就要按照重新折合成绩来计算，计算过于频繁，而且对于总体来说是无意义的，因为微小的改动不太影响全局的变化。</a:t>
            </a:r>
          </a:p>
          <a:p>
            <a:r>
              <a:rPr lang="zh-CN" altLang="en-US" dirty="0"/>
              <a:t>所以使用视图，现用现查现计算，结果可以保存到前端缓存，等需要更新的时候再重新向后端发送请求去做计算。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7667B9-340C-91B0-0F29-1EAEDA00B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8E510E-514B-4DF0-90D1-C035813F6BC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7168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6BF3C-37ED-4868-8C8C-07B54E59A2F4}" type="slidenum">
              <a:rPr lang="zh-CN" altLang="en-US" smtClean="0"/>
              <a:pPr/>
              <a:t>27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349904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8C217-AB52-5D73-BB37-BED2603C9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C06117-DA23-0AF5-3CB7-D3F9313AE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8CB833-A509-F15D-683D-BD108279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79A8-7922-47FE-9639-ECBBAB4881F9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8EDE5E-5B67-90C5-03C9-89CFDB1D6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453591-4EBF-BB93-AB31-DFBCCD0AA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4ACC-BFF4-4509-AB22-5EE9D6112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379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E81A7-FBB2-A8D0-4EBD-20B7F120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47BDDE-B14A-3F10-563F-944B15901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FDCF8A-79DD-7F65-1783-1859550D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79A8-7922-47FE-9639-ECBBAB4881F9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900362-BA28-0DDD-F865-4E52BB898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4E3DAF-CA8C-9A28-45F8-9BECD73D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4ACC-BFF4-4509-AB22-5EE9D6112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914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00AC9-E941-7077-2428-DBE22C00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781D1E-2912-51FB-BBB1-19E92289C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CF7250-8338-945E-224E-2AF3FD66F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79A8-7922-47FE-9639-ECBBAB4881F9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A0D509-0C30-39D1-438A-4C20FE3D5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5AE0C6-E886-1D7A-4B7E-9C558207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4ACC-BFF4-4509-AB22-5EE9D6112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798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F7A13D-A336-9A86-8303-858207AC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7DFD6-FCB9-A3E2-1708-29ECCF0BC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B402C8-1EE5-9D1B-EC2F-F2D944AD5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C61CF5-FA4F-2070-F317-0F9743839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79A8-7922-47FE-9639-ECBBAB4881F9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AD3676-BBDA-8D57-768D-E415DAFA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990752-C2C8-F92C-98EB-0DC10E164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4ACC-BFF4-4509-AB22-5EE9D6112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99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A78CC6-8E10-B209-073A-54D2D9B35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1D1C41-E6F1-1AAD-E3A1-364931D5B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016628-E004-44CB-29D3-B20ED2517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C6DC1B-E698-CB05-2D84-12E3EF3C7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0E8FF3-D4C9-762A-BDCB-768473E1A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DFEF0D-AAAE-4DEB-3B2C-EB76FCB21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79A8-7922-47FE-9639-ECBBAB4881F9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C78877-0283-BB9A-4C3D-1B071135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AB425E-89F2-CE93-2B2E-F13382C0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4ACC-BFF4-4509-AB22-5EE9D6112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91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45833-17CF-77A2-6F1F-159E8966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0CC4BA-F23E-7CE8-930B-2BD6DAAF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79A8-7922-47FE-9639-ECBBAB4881F9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954E44-BA50-C04A-703F-9F9BE6A4B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23DEFB-D2CE-16B8-53B3-A5705AFF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4ACC-BFF4-4509-AB22-5EE9D6112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68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062BF1-3EEE-6503-9FBC-B20176BC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79A8-7922-47FE-9639-ECBBAB4881F9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EBFFB8-DFBD-0FB2-906B-D95E2D31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6881BD-40DA-FA5D-2067-86F9C4684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4ACC-BFF4-4509-AB22-5EE9D6112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21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35024-D3A5-199D-36B6-F415D0DC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DA1FB7-030A-1192-A31B-6339C77A1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8AE1D4-C19F-C95B-C2DB-BBE2B8A62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BE8A01-91A7-1517-9285-EA2510FA3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79A8-7922-47FE-9639-ECBBAB4881F9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881436-FF37-CBF7-DA6B-964C29D8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B36C29-DBEB-7D0F-BF0B-B250997B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4ACC-BFF4-4509-AB22-5EE9D6112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6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C52CC9-2954-A73C-285F-2CBE397D9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CDFF28-869C-D74F-A2CF-A835B22A1F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1E005D-1FE7-1BEA-95A2-81249B89A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416352-6268-806C-0E84-E78A076A3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79A8-7922-47FE-9639-ECBBAB4881F9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1492F3-D235-AD28-C8D2-1477BDC8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9969F1-014C-32A0-58E0-B0E584EB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4ACC-BFF4-4509-AB22-5EE9D6112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975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332858-FC1E-2926-7023-84E4A74D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9E2AC1-1D5A-F337-60D7-597924201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CA1A93-9A8B-86A2-BCAB-0596EAD45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79A8-7922-47FE-9639-ECBBAB4881F9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B2FE1F-B050-01EA-E425-BB979854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F0E345-869A-9561-AF76-1E1E7C0A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4ACC-BFF4-4509-AB22-5EE9D6112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96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334B633-5661-9172-1F66-16D9F050E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7A92F4-6D17-38C9-AE2B-9E74A4E5A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4B8734-F17D-3FA5-3704-7F5D24B2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79A8-7922-47FE-9639-ECBBAB4881F9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C388FA-DA45-A7E4-877F-3DD5E38B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05B16A-245E-4C22-974A-4D71CAD06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4ACC-BFF4-4509-AB22-5EE9D6112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08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AE12F-1A71-13D6-5CF9-74DEAC623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1377E2-0BDF-0DE2-B793-F88D70DDD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D0CAAA-4ABD-42A9-20BA-FE0A241A8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5635-5AAC-4310-B279-E2D2B3B0F097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5E61E0-7014-9D34-7DF7-327E2BE1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FD7C51-70A6-FF86-02B6-CC872056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BF27-C420-4F72-BEC2-50D237970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955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5AA8B2E-E929-F662-612E-C131132853C4}"/>
              </a:ext>
            </a:extLst>
          </p:cNvPr>
          <p:cNvSpPr/>
          <p:nvPr userDrawn="1"/>
        </p:nvSpPr>
        <p:spPr>
          <a:xfrm>
            <a:off x="-1" y="737474"/>
            <a:ext cx="11538857" cy="4571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78000">
                <a:schemeClr val="accent6">
                  <a:lumMod val="90000"/>
                  <a:lumOff val="1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613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84324-C752-1287-25BA-C4520278D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1708F1-F3C3-7F59-A059-6FB001C43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31613-7235-6011-2FD2-1EF36D0BD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5635-5AAC-4310-B279-E2D2B3B0F097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B6DF59-B85C-85E3-7CFB-BB513C8D0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58F3F2-E84E-E584-824E-1C732365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BF27-C420-4F72-BEC2-50D237970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713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DC5B9-C87F-0589-E11C-35200E666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6F6708-C9C7-EC77-8351-A069BB6EE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2E3579-0216-1B70-F499-6F53F10C8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0AA27B-EF73-87B8-F663-998C048AC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5635-5AAC-4310-B279-E2D2B3B0F097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1FC7A2-FD5D-389C-9360-7BE6A85F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E6B7CB-EB0F-C6F2-92A5-7BDA3106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BF27-C420-4F72-BEC2-50D237970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351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C6151-D473-D787-17D6-A96AADAA9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8E5679-CC48-2599-97FC-EBA44A19D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A4E054-6506-FE2C-7BA2-94BEE47B9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B5CA45-C43F-98B6-53E8-6CEDE7D9F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84CAFBD-8F76-19A1-8743-37A4210148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8B85A7-4216-7434-BBD0-92CC8FE39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5635-5AAC-4310-B279-E2D2B3B0F097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E14404-264B-2341-305B-4623D337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BB844B-83BB-7A6E-0DE4-0D37D17BF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BF27-C420-4F72-BEC2-50D237970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424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A9944-2B0F-874C-21BC-F920BA15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956E03-8895-C0E7-FBBE-6C505CC2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5635-5AAC-4310-B279-E2D2B3B0F097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9557ED-4109-83AA-3438-65151BEC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2535C8-00B7-328B-0F98-6C550C8A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BF27-C420-4F72-BEC2-50D237970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753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E5AC95-2C18-8B8E-6E11-9F206671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5635-5AAC-4310-B279-E2D2B3B0F097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22B078-D254-3883-8469-25741448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C2C2C6-1786-28DC-0739-0C68F1CA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BF27-C420-4F72-BEC2-50D237970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8935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A0B828-AC09-47A1-7CB4-D99EBA5B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9127CF-E621-545D-59EB-7E3CD752C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E9E265-0F7F-EB95-5613-29E97D91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93A0C3-F5FB-41AF-3A97-317866C5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5635-5AAC-4310-B279-E2D2B3B0F097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F030F6-03B6-8F76-8616-5841C18F3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F24280-B9FA-903F-73BD-03FDB227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BF27-C420-4F72-BEC2-50D237970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0537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498F54-737E-9B83-B9FA-199ED3602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2C27BB-540D-D40D-D426-51EA5A8C4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9232FD-9DB0-8F74-9CDC-C249BEDB0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12CF42-52D9-2CE9-32C8-921E8E80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5635-5AAC-4310-B279-E2D2B3B0F097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22C6E6-AF32-E66D-8C9A-8492F69BA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A542F2-103D-008E-F352-988BC314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BF27-C420-4F72-BEC2-50D237970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851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EEEED-8B97-F285-DA83-744CCDEB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16BF5E-E144-ADA0-FE11-5CF9B5186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399A24-6650-3FEC-0E79-31C07DCB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5635-5AAC-4310-B279-E2D2B3B0F097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DEC228-6FDA-3E00-56C2-2F118589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498AFA-2C4F-6670-F4E2-390C42AD8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BF27-C420-4F72-BEC2-50D237970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7482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28F0D9-7AD7-0168-CF66-44EFA90149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7E0779-0AE1-E28B-37D4-7403064CE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CA14DC-9C56-499F-9B88-9173D274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5635-5AAC-4310-B279-E2D2B3B0F097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B68F4F-C5FA-E101-CBFB-C03E4B5C9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16C33-3430-9ECB-1F72-606E403FC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BF27-C420-4F72-BEC2-50D237970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99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37D077-19EE-7CA2-9EF5-2BF18945C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1FE88C-D1BC-1EA2-724E-CEF66826C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DAE1D6-DD07-97BF-64D3-FD3B92263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479A8-7922-47FE-9639-ECBBAB4881F9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7191E-379D-18BC-741A-92E0ED864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B13010-E0A1-74FE-F844-0C647EBC0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D4ACC-BFF4-4509-AB22-5EE9D6112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758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DE0F9F-BB39-EB88-A671-6C77AAF3D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527F3F-6BAC-C3E6-081D-3CB10ECAF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FA6D9-16EC-2AB5-FF2C-BE02B5A846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275635-5AAC-4310-B279-E2D2B3B0F097}" type="datetimeFigureOut">
              <a:rPr lang="zh-CN" altLang="en-US" smtClean="0"/>
              <a:t>2025-11-19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9BF70-4071-F882-274A-F4A993C72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3577E3-0DA8-102B-93D5-31D79D05F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3BF27-C420-4F72-BEC2-50D237970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77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4.xml"/><Relationship Id="rId9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7.xml"/><Relationship Id="rId7" Type="http://schemas.openxmlformats.org/officeDocument/2006/relationships/image" Target="../media/image4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8.xml"/><Relationship Id="rId9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1.xml"/><Relationship Id="rId7" Type="http://schemas.openxmlformats.org/officeDocument/2006/relationships/image" Target="../media/image4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2.xml"/><Relationship Id="rId9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5.xml"/><Relationship Id="rId7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6.xml"/><Relationship Id="rId9" Type="http://schemas.openxmlformats.org/officeDocument/2006/relationships/image" Target="../media/image6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 rot="2685974">
            <a:off x="10373804" y="2520351"/>
            <a:ext cx="1218865" cy="1218865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15" name="矩形 14"/>
          <p:cNvSpPr/>
          <p:nvPr/>
        </p:nvSpPr>
        <p:spPr>
          <a:xfrm rot="2685974">
            <a:off x="8720253" y="3232035"/>
            <a:ext cx="438583" cy="4385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16" name="矩形 15"/>
          <p:cNvSpPr/>
          <p:nvPr/>
        </p:nvSpPr>
        <p:spPr>
          <a:xfrm rot="2657183">
            <a:off x="7182832" y="1789192"/>
            <a:ext cx="641852" cy="5420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17" name="矩形 16"/>
          <p:cNvSpPr/>
          <p:nvPr/>
        </p:nvSpPr>
        <p:spPr>
          <a:xfrm rot="2685974">
            <a:off x="6047028" y="1340629"/>
            <a:ext cx="340842" cy="3408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18" name="矩形 17"/>
          <p:cNvSpPr/>
          <p:nvPr/>
        </p:nvSpPr>
        <p:spPr>
          <a:xfrm rot="2685974">
            <a:off x="6017998" y="739212"/>
            <a:ext cx="165230" cy="1652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19" name="矩形 18"/>
          <p:cNvSpPr/>
          <p:nvPr/>
        </p:nvSpPr>
        <p:spPr>
          <a:xfrm rot="2685974">
            <a:off x="12264021" y="3630902"/>
            <a:ext cx="165230" cy="1652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0" name="矩形 19"/>
          <p:cNvSpPr/>
          <p:nvPr/>
        </p:nvSpPr>
        <p:spPr>
          <a:xfrm rot="2731766">
            <a:off x="7500243" y="2462623"/>
            <a:ext cx="1057417" cy="107229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1" name="矩形 20"/>
          <p:cNvSpPr/>
          <p:nvPr/>
        </p:nvSpPr>
        <p:spPr>
          <a:xfrm rot="2685974">
            <a:off x="6946862" y="3184101"/>
            <a:ext cx="438583" cy="4385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2" name="矩形 21"/>
          <p:cNvSpPr/>
          <p:nvPr/>
        </p:nvSpPr>
        <p:spPr>
          <a:xfrm rot="2685974">
            <a:off x="6560996" y="3320778"/>
            <a:ext cx="165230" cy="1652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3" name="任意多边形 22"/>
          <p:cNvSpPr/>
          <p:nvPr/>
        </p:nvSpPr>
        <p:spPr>
          <a:xfrm rot="2680233">
            <a:off x="6742255" y="4871839"/>
            <a:ext cx="7189231" cy="6330591"/>
          </a:xfrm>
          <a:custGeom>
            <a:avLst/>
            <a:gdLst>
              <a:gd name="connsiteX0" fmla="*/ 0 w 5393410"/>
              <a:gd name="connsiteY0" fmla="*/ 0 h 4749253"/>
              <a:gd name="connsiteX1" fmla="*/ 4406292 w 5393410"/>
              <a:gd name="connsiteY1" fmla="*/ 0 h 4749253"/>
              <a:gd name="connsiteX2" fmla="*/ 5393410 w 5393410"/>
              <a:gd name="connsiteY2" fmla="*/ 998536 h 4749253"/>
              <a:gd name="connsiteX3" fmla="*/ 1599309 w 5393410"/>
              <a:gd name="connsiteY3" fmla="*/ 4749253 h 4749253"/>
              <a:gd name="connsiteX4" fmla="*/ 0 w 5393410"/>
              <a:gd name="connsiteY4" fmla="*/ 4749253 h 4749253"/>
              <a:gd name="connsiteX0" fmla="*/ 0 w 5393410"/>
              <a:gd name="connsiteY0" fmla="*/ 0 h 4749253"/>
              <a:gd name="connsiteX1" fmla="*/ 4406292 w 5393410"/>
              <a:gd name="connsiteY1" fmla="*/ 0 h 4749253"/>
              <a:gd name="connsiteX2" fmla="*/ 5393410 w 5393410"/>
              <a:gd name="connsiteY2" fmla="*/ 998536 h 4749253"/>
              <a:gd name="connsiteX3" fmla="*/ 1599309 w 5393410"/>
              <a:gd name="connsiteY3" fmla="*/ 4749253 h 4749253"/>
              <a:gd name="connsiteX4" fmla="*/ 0 w 5393410"/>
              <a:gd name="connsiteY4" fmla="*/ 4749253 h 4749253"/>
              <a:gd name="connsiteX5" fmla="*/ 0 w 5393410"/>
              <a:gd name="connsiteY5" fmla="*/ 0 h 4749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3410" h="4749253">
                <a:moveTo>
                  <a:pt x="0" y="0"/>
                </a:moveTo>
                <a:lnTo>
                  <a:pt x="4406292" y="0"/>
                </a:lnTo>
                <a:lnTo>
                  <a:pt x="5393410" y="998536"/>
                </a:lnTo>
                <a:lnTo>
                  <a:pt x="1599309" y="4749253"/>
                </a:lnTo>
                <a:lnTo>
                  <a:pt x="0" y="4749253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cxnSp>
        <p:nvCxnSpPr>
          <p:cNvPr id="24" name="直接连接符 23"/>
          <p:cNvCxnSpPr/>
          <p:nvPr/>
        </p:nvCxnSpPr>
        <p:spPr>
          <a:xfrm>
            <a:off x="10000405" y="3597100"/>
            <a:ext cx="4182370" cy="408197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H="1">
            <a:off x="5930049" y="3637305"/>
            <a:ext cx="4072194" cy="4090116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5932906" y="7718826"/>
            <a:ext cx="4182370" cy="408197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40758" y="2249247"/>
            <a:ext cx="5450441" cy="613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87" b="1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船舶人力资源管理系统</a:t>
            </a:r>
          </a:p>
        </p:txBody>
      </p:sp>
      <p:cxnSp>
        <p:nvCxnSpPr>
          <p:cNvPr id="30" name="直接连接符 29"/>
          <p:cNvCxnSpPr>
            <a:cxnSpLocks/>
          </p:cNvCxnSpPr>
          <p:nvPr/>
        </p:nvCxnSpPr>
        <p:spPr>
          <a:xfrm>
            <a:off x="106135" y="2894724"/>
            <a:ext cx="716983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636699" y="3093269"/>
            <a:ext cx="2953693" cy="47992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399">
              <a:solidFill>
                <a:srgbClr val="1557AE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14210" y="3121907"/>
            <a:ext cx="5476989" cy="4204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2132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培训与发展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FEF306BA-C5E2-48BF-A785-6434E97060AD}"/>
              </a:ext>
            </a:extLst>
          </p:cNvPr>
          <p:cNvSpPr/>
          <p:nvPr/>
        </p:nvSpPr>
        <p:spPr bwMode="auto">
          <a:xfrm>
            <a:off x="9650110" y="-6667"/>
            <a:ext cx="3420547" cy="4092561"/>
          </a:xfrm>
          <a:custGeom>
            <a:avLst/>
            <a:gdLst>
              <a:gd name="connsiteX0" fmla="*/ 3232150 w 3232150"/>
              <a:gd name="connsiteY0" fmla="*/ 3867150 h 3867150"/>
              <a:gd name="connsiteX1" fmla="*/ 3232150 w 3232150"/>
              <a:gd name="connsiteY1" fmla="*/ 0 h 3867150"/>
              <a:gd name="connsiteX2" fmla="*/ 584200 w 3232150"/>
              <a:gd name="connsiteY2" fmla="*/ 0 h 3867150"/>
              <a:gd name="connsiteX3" fmla="*/ 0 w 3232150"/>
              <a:gd name="connsiteY3" fmla="*/ 584200 h 3867150"/>
              <a:gd name="connsiteX4" fmla="*/ 3232150 w 3232150"/>
              <a:gd name="connsiteY4" fmla="*/ 3867150 h 386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2150" h="3867150">
                <a:moveTo>
                  <a:pt x="3232150" y="3867150"/>
                </a:moveTo>
                <a:lnTo>
                  <a:pt x="3232150" y="0"/>
                </a:lnTo>
                <a:lnTo>
                  <a:pt x="584200" y="0"/>
                </a:lnTo>
                <a:lnTo>
                  <a:pt x="0" y="584200"/>
                </a:lnTo>
                <a:lnTo>
                  <a:pt x="3232150" y="3867150"/>
                </a:lnTo>
                <a:close/>
              </a:path>
            </a:pathLst>
          </a:custGeom>
          <a:blipFill>
            <a:blip r:embed="rId3"/>
            <a:stretch>
              <a:fillRect l="-102050" t="-6117" r="-12114" b="-33739"/>
            </a:stretch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967710" fontAlgn="base">
              <a:spcBef>
                <a:spcPct val="0"/>
              </a:spcBef>
              <a:spcAft>
                <a:spcPct val="0"/>
              </a:spcAft>
            </a:pPr>
            <a:endParaRPr lang="zh-CN" altLang="en-US" sz="1905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F673366-6C91-4F3A-81AB-AE58527204B0}"/>
              </a:ext>
            </a:extLst>
          </p:cNvPr>
          <p:cNvSpPr/>
          <p:nvPr/>
        </p:nvSpPr>
        <p:spPr bwMode="auto">
          <a:xfrm rot="2700000">
            <a:off x="8554878" y="1149206"/>
            <a:ext cx="1929448" cy="1929448"/>
          </a:xfrm>
          <a:prstGeom prst="rect">
            <a:avLst/>
          </a:prstGeom>
          <a:blipFill dpi="0" rotWithShape="0">
            <a:blip r:embed="rId3"/>
            <a:srcRect/>
            <a:stretch>
              <a:fillRect l="-71077" t="-28837" r="-93481" b="-43929"/>
            </a:stretch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967710" fontAlgn="base">
              <a:spcBef>
                <a:spcPct val="0"/>
              </a:spcBef>
              <a:spcAft>
                <a:spcPct val="0"/>
              </a:spcAft>
            </a:pPr>
            <a:endParaRPr lang="zh-CN" altLang="en-US" sz="1905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5411E3F3-E610-4CF3-A1FA-3D0A65EAB215}"/>
              </a:ext>
            </a:extLst>
          </p:cNvPr>
          <p:cNvSpPr/>
          <p:nvPr/>
        </p:nvSpPr>
        <p:spPr bwMode="auto">
          <a:xfrm>
            <a:off x="8152288" y="53"/>
            <a:ext cx="1895077" cy="947539"/>
          </a:xfrm>
          <a:custGeom>
            <a:avLst/>
            <a:gdLst>
              <a:gd name="connsiteX0" fmla="*/ 0 w 1790700"/>
              <a:gd name="connsiteY0" fmla="*/ 0 h 895350"/>
              <a:gd name="connsiteX1" fmla="*/ 1790700 w 1790700"/>
              <a:gd name="connsiteY1" fmla="*/ 0 h 895350"/>
              <a:gd name="connsiteX2" fmla="*/ 895350 w 1790700"/>
              <a:gd name="connsiteY2" fmla="*/ 895350 h 895350"/>
              <a:gd name="connsiteX3" fmla="*/ 0 w 1790700"/>
              <a:gd name="connsiteY3" fmla="*/ 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0700" h="895350">
                <a:moveTo>
                  <a:pt x="0" y="0"/>
                </a:moveTo>
                <a:lnTo>
                  <a:pt x="1790700" y="0"/>
                </a:lnTo>
                <a:lnTo>
                  <a:pt x="89535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783" t="-709" r="-160105" b="-371657"/>
            </a:stretch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967710" fontAlgn="base">
              <a:spcBef>
                <a:spcPct val="0"/>
              </a:spcBef>
              <a:spcAft>
                <a:spcPct val="0"/>
              </a:spcAft>
            </a:pPr>
            <a:endParaRPr lang="zh-CN" altLang="en-US" sz="1905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8D8CDC8-714D-4059-AA66-E040B5A86860}"/>
              </a:ext>
            </a:extLst>
          </p:cNvPr>
          <p:cNvSpPr/>
          <p:nvPr/>
        </p:nvSpPr>
        <p:spPr bwMode="auto">
          <a:xfrm rot="2700000">
            <a:off x="7368497" y="386244"/>
            <a:ext cx="1311188" cy="1311188"/>
          </a:xfrm>
          <a:prstGeom prst="rect">
            <a:avLst/>
          </a:prstGeom>
          <a:blipFill dpi="0" rotWithShape="0">
            <a:blip r:embed="rId3"/>
            <a:srcRect/>
            <a:stretch>
              <a:fillRect l="-38622" t="-12637" r="-222155" b="-122964"/>
            </a:stretch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967710" fontAlgn="base">
              <a:spcBef>
                <a:spcPct val="0"/>
              </a:spcBef>
              <a:spcAft>
                <a:spcPct val="0"/>
              </a:spcAft>
            </a:pPr>
            <a:endParaRPr lang="zh-CN" altLang="en-US" sz="1905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B24ED5E-6974-406C-BAE7-458ABF29988F}"/>
              </a:ext>
            </a:extLst>
          </p:cNvPr>
          <p:cNvSpPr/>
          <p:nvPr/>
        </p:nvSpPr>
        <p:spPr bwMode="auto">
          <a:xfrm rot="2700000">
            <a:off x="6671813" y="1224038"/>
            <a:ext cx="601986" cy="60198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967710" fontAlgn="base">
              <a:spcBef>
                <a:spcPct val="0"/>
              </a:spcBef>
              <a:spcAft>
                <a:spcPct val="0"/>
              </a:spcAft>
            </a:pPr>
            <a:endParaRPr lang="zh-CN" altLang="en-US" sz="1905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7" name="任意多边形 22">
            <a:extLst>
              <a:ext uri="{FF2B5EF4-FFF2-40B4-BE49-F238E27FC236}">
                <a16:creationId xmlns:a16="http://schemas.microsoft.com/office/drawing/2014/main" id="{42439A2A-8B2A-4E1A-B276-40BBC01DB01E}"/>
              </a:ext>
            </a:extLst>
          </p:cNvPr>
          <p:cNvSpPr/>
          <p:nvPr/>
        </p:nvSpPr>
        <p:spPr>
          <a:xfrm rot="2680233">
            <a:off x="6903538" y="5033122"/>
            <a:ext cx="7189231" cy="6330591"/>
          </a:xfrm>
          <a:custGeom>
            <a:avLst/>
            <a:gdLst>
              <a:gd name="connsiteX0" fmla="*/ 0 w 5393410"/>
              <a:gd name="connsiteY0" fmla="*/ 0 h 4749253"/>
              <a:gd name="connsiteX1" fmla="*/ 4406292 w 5393410"/>
              <a:gd name="connsiteY1" fmla="*/ 0 h 4749253"/>
              <a:gd name="connsiteX2" fmla="*/ 5393410 w 5393410"/>
              <a:gd name="connsiteY2" fmla="*/ 998536 h 4749253"/>
              <a:gd name="connsiteX3" fmla="*/ 1599309 w 5393410"/>
              <a:gd name="connsiteY3" fmla="*/ 4749253 h 4749253"/>
              <a:gd name="connsiteX4" fmla="*/ 0 w 5393410"/>
              <a:gd name="connsiteY4" fmla="*/ 4749253 h 4749253"/>
              <a:gd name="connsiteX0" fmla="*/ 0 w 5393410"/>
              <a:gd name="connsiteY0" fmla="*/ 0 h 4749253"/>
              <a:gd name="connsiteX1" fmla="*/ 4406292 w 5393410"/>
              <a:gd name="connsiteY1" fmla="*/ 0 h 4749253"/>
              <a:gd name="connsiteX2" fmla="*/ 5393410 w 5393410"/>
              <a:gd name="connsiteY2" fmla="*/ 998536 h 4749253"/>
              <a:gd name="connsiteX3" fmla="*/ 1599309 w 5393410"/>
              <a:gd name="connsiteY3" fmla="*/ 4749253 h 4749253"/>
              <a:gd name="connsiteX4" fmla="*/ 0 w 5393410"/>
              <a:gd name="connsiteY4" fmla="*/ 4749253 h 4749253"/>
              <a:gd name="connsiteX5" fmla="*/ 0 w 5393410"/>
              <a:gd name="connsiteY5" fmla="*/ 0 h 4749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3410" h="4749253">
                <a:moveTo>
                  <a:pt x="0" y="0"/>
                </a:moveTo>
                <a:lnTo>
                  <a:pt x="4406292" y="0"/>
                </a:lnTo>
                <a:lnTo>
                  <a:pt x="5393410" y="998536"/>
                </a:lnTo>
                <a:lnTo>
                  <a:pt x="1599309" y="4749253"/>
                </a:lnTo>
                <a:lnTo>
                  <a:pt x="0" y="4749253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stretch>
              <a:fillRect l="2538" t="27360" b="3758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A5C74C6F-AFBD-4AAF-B292-EB518C41DB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14" y="422650"/>
            <a:ext cx="2661172" cy="79835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1134A68-A458-FF3F-BFA8-B1FC1D85E460}"/>
              </a:ext>
            </a:extLst>
          </p:cNvPr>
          <p:cNvSpPr/>
          <p:nvPr/>
        </p:nvSpPr>
        <p:spPr>
          <a:xfrm>
            <a:off x="320978" y="4137984"/>
            <a:ext cx="1803699" cy="418191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b="1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   张福轩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AFD1CF-C018-0200-A882-61C63562618A}"/>
              </a:ext>
            </a:extLst>
          </p:cNvPr>
          <p:cNvSpPr/>
          <p:nvPr/>
        </p:nvSpPr>
        <p:spPr>
          <a:xfrm>
            <a:off x="378686" y="4610168"/>
            <a:ext cx="800087" cy="539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5" rIns="91434" bIns="45715" anchor="ctr"/>
          <a:lstStyle/>
          <a:p>
            <a:pPr algn="ctr">
              <a:defRPr/>
            </a:pP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5FAE18-1091-9E12-BEEC-3E1F756F1DFE}"/>
              </a:ext>
            </a:extLst>
          </p:cNvPr>
          <p:cNvSpPr/>
          <p:nvPr/>
        </p:nvSpPr>
        <p:spPr>
          <a:xfrm>
            <a:off x="1197824" y="4610168"/>
            <a:ext cx="1620813" cy="5397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5" rIns="91434" bIns="45715" anchor="ctr"/>
          <a:lstStyle/>
          <a:p>
            <a:pPr algn="ctr">
              <a:defRPr/>
            </a:pPr>
            <a:endParaRPr lang="zh-CN" alt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08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9">
            <a:extLst>
              <a:ext uri="{FF2B5EF4-FFF2-40B4-BE49-F238E27FC236}">
                <a16:creationId xmlns:a16="http://schemas.microsoft.com/office/drawing/2014/main" id="{D839A480-CC59-D495-503B-486767B4DA3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58D3D03-E9E4-D8C1-749D-3D4FDBC6750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0BC61C98-B762-F32B-10BB-D2187585EC09}"/>
              </a:ext>
            </a:extLst>
          </p:cNvPr>
          <p:cNvSpPr/>
          <p:nvPr/>
        </p:nvSpPr>
        <p:spPr>
          <a:xfrm flipH="1">
            <a:off x="2579592" y="190500"/>
            <a:ext cx="8422734" cy="6524625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bg1"/>
              </a:gs>
              <a:gs pos="99083">
                <a:schemeClr val="bg1"/>
              </a:gs>
            </a:gsLst>
            <a:lin ang="5400000" scaled="1"/>
            <a:tileRect/>
          </a:gradFill>
          <a:ln w="3175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100000"/>
                  </a:schemeClr>
                </a:gs>
              </a:gsLst>
              <a:lin ang="10800000" scaled="1"/>
              <a:tileRect/>
            </a:gradFill>
          </a:ln>
          <a:effectLst>
            <a:outerShdw blurRad="304800" sx="102000" sy="102000" algn="ctr" rotWithShape="0">
              <a:schemeClr val="accent6">
                <a:lumMod val="20000"/>
                <a:lumOff val="80000"/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cs typeface="+mn-cs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86254EF-F9E8-B7FE-A848-C88F1D6CA5A5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6"/>
              </a:gs>
              <a:gs pos="100000">
                <a:schemeClr val="accent6">
                  <a:lumMod val="90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65100" dist="38100" dir="2700000" algn="tl" rotWithShape="0">
              <a:schemeClr val="bg1">
                <a:lumMod val="8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cs typeface="+mn-cs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E43EB25C-F9F9-2D15-567F-3AD91B6945FF}"/>
              </a:ext>
            </a:extLst>
          </p:cNvPr>
          <p:cNvGrpSpPr/>
          <p:nvPr/>
        </p:nvGrpSpPr>
        <p:grpSpPr>
          <a:xfrm>
            <a:off x="4794008" y="980125"/>
            <a:ext cx="5384517" cy="747324"/>
            <a:chOff x="4874973" y="1293731"/>
            <a:chExt cx="5384517" cy="747324"/>
          </a:xfrm>
        </p:grpSpPr>
        <p:sp>
          <p:nvSpPr>
            <p:cNvPr id="68" name="PA-圆角矩形 5824">
              <a:extLst>
                <a:ext uri="{FF2B5EF4-FFF2-40B4-BE49-F238E27FC236}">
                  <a16:creationId xmlns:a16="http://schemas.microsoft.com/office/drawing/2014/main" id="{30637FE3-264C-623F-A826-4F7E720E3A0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accent6"/>
            </a:solidFill>
            <a:ln w="0">
              <a:solidFill>
                <a:schemeClr val="accent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6227AB63-E3DA-157F-132D-48424C4AFB4B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974267AD-93F3-DAE3-4ADC-D40AFBCB26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C124C31F-E025-3BD6-6039-6CEA4C0CB29B}"/>
                  </a:ext>
                </a:extLst>
              </p:cNvPr>
              <p:cNvSpPr/>
              <p:nvPr/>
            </p:nvSpPr>
            <p:spPr>
              <a:xfrm>
                <a:off x="6267875" y="1428373"/>
                <a:ext cx="3586198" cy="550136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51435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EC8AA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50800" dist="38100" dir="5400000" algn="t" rotWithShape="0">
                        <a:srgbClr val="0B4FA1">
                          <a:lumMod val="75000"/>
                          <a:alpha val="40000"/>
                        </a:srgbClr>
                      </a:outerShdw>
                    </a:effectLst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项目背景</a:t>
                </a:r>
              </a:p>
            </p:txBody>
          </p:sp>
          <p:sp>
            <p:nvSpPr>
              <p:cNvPr id="90" name="标题占位符 27">
                <a:extLst>
                  <a:ext uri="{FF2B5EF4-FFF2-40B4-BE49-F238E27FC236}">
                    <a16:creationId xmlns:a16="http://schemas.microsoft.com/office/drawing/2014/main" id="{D2623FA5-CCAB-F469-066C-4E25957356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>
                    <a:solidFill>
                      <a:srgbClr val="D7000F"/>
                    </a:solidFill>
                    <a:latin typeface="+mj-ea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50800" dist="38100" dir="5400000" algn="t" rotWithShape="0">
                        <a:srgbClr val="0B4FA1">
                          <a:lumMod val="75000"/>
                          <a:alpha val="40000"/>
                        </a:srgbClr>
                      </a:outerShdw>
                    </a:effectLst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01</a:t>
                </a:r>
                <a:endPara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srgbClr val="0B4FA1">
                        <a:lumMod val="75000"/>
                        <a:alpha val="40000"/>
                      </a:srgbClr>
                    </a:outerShdw>
                  </a:effectLst>
                  <a:uLnTx/>
                  <a:uFillTx/>
                  <a:latin typeface="DIN Black"/>
                  <a:ea typeface="思源宋体 CN Heavy" panose="02020900000000000000" pitchFamily="18" charset="-122"/>
                  <a:cs typeface="+mj-cs"/>
                </a:endParaRPr>
              </a:p>
            </p:txBody>
          </p:sp>
        </p:grp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FD87EA95-867A-20A7-F80E-DD2E4856EB17}"/>
              </a:ext>
            </a:extLst>
          </p:cNvPr>
          <p:cNvGrpSpPr/>
          <p:nvPr/>
        </p:nvGrpSpPr>
        <p:grpSpPr>
          <a:xfrm>
            <a:off x="4794008" y="2112622"/>
            <a:ext cx="5384517" cy="747324"/>
            <a:chOff x="4874973" y="1293731"/>
            <a:chExt cx="5384517" cy="747324"/>
          </a:xfrm>
        </p:grpSpPr>
        <p:sp>
          <p:nvSpPr>
            <p:cNvPr id="101" name="PA-圆角矩形 5824">
              <a:extLst>
                <a:ext uri="{FF2B5EF4-FFF2-40B4-BE49-F238E27FC236}">
                  <a16:creationId xmlns:a16="http://schemas.microsoft.com/office/drawing/2014/main" id="{87FE1BB2-E6CE-BB37-3095-029DEEDE856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bg1"/>
            </a:solidFill>
            <a:ln w="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14F7DEA9-A782-E359-672D-15F1F340A5FF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08865EA0-0097-3C90-DEBE-C2AB2DAD2B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DB04464F-26CD-9C28-BC62-E18D3D2A0587}"/>
                  </a:ext>
                </a:extLst>
              </p:cNvPr>
              <p:cNvSpPr/>
              <p:nvPr/>
            </p:nvSpPr>
            <p:spPr>
              <a:xfrm>
                <a:off x="6267875" y="1428373"/>
                <a:ext cx="3586198" cy="550136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51435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EC8AA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需求分析</a:t>
                </a:r>
              </a:p>
            </p:txBody>
          </p:sp>
          <p:sp>
            <p:nvSpPr>
              <p:cNvPr id="105" name="标题占位符 27">
                <a:extLst>
                  <a:ext uri="{FF2B5EF4-FFF2-40B4-BE49-F238E27FC236}">
                    <a16:creationId xmlns:a16="http://schemas.microsoft.com/office/drawing/2014/main" id="{FF477EAD-6B58-5201-93C8-4D4DFEC005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defPPr>
                  <a:defRPr lang="zh-CN"/>
                </a:defPPr>
                <a:lvl1pPr algn="ctr" defTabSz="685800">
                  <a:lnSpc>
                    <a:spcPct val="120000"/>
                  </a:lnSpc>
                  <a:spcBef>
                    <a:spcPct val="0"/>
                  </a:spcBef>
                  <a:buNone/>
                  <a:defRPr sz="4000">
                    <a:solidFill>
                      <a:schemeClr val="accent6"/>
                    </a:solidFill>
                    <a:latin typeface="+mj-lt"/>
                    <a:ea typeface="思源宋体 CN Heavy" panose="02020900000000000000" pitchFamily="18" charset="-122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02</a:t>
                </a:r>
              </a:p>
            </p:txBody>
          </p:sp>
        </p:grp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786A11BD-C08C-3429-A9B1-907198783E9E}"/>
              </a:ext>
            </a:extLst>
          </p:cNvPr>
          <p:cNvGrpSpPr/>
          <p:nvPr/>
        </p:nvGrpSpPr>
        <p:grpSpPr>
          <a:xfrm>
            <a:off x="4794008" y="3245119"/>
            <a:ext cx="5384517" cy="747324"/>
            <a:chOff x="4874973" y="1293731"/>
            <a:chExt cx="5384517" cy="747324"/>
          </a:xfrm>
        </p:grpSpPr>
        <p:sp>
          <p:nvSpPr>
            <p:cNvPr id="119" name="PA-圆角矩形 5824">
              <a:extLst>
                <a:ext uri="{FF2B5EF4-FFF2-40B4-BE49-F238E27FC236}">
                  <a16:creationId xmlns:a16="http://schemas.microsoft.com/office/drawing/2014/main" id="{33768369-E8FC-5A18-C178-4FAA0AF41B5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bg1"/>
            </a:solidFill>
            <a:ln w="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3B22F676-10A7-5547-2C25-887E42CB02CC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121" name="直接连接符 120">
                <a:extLst>
                  <a:ext uri="{FF2B5EF4-FFF2-40B4-BE49-F238E27FC236}">
                    <a16:creationId xmlns:a16="http://schemas.microsoft.com/office/drawing/2014/main" id="{BF07B8B3-7B33-1B34-371F-34A9899E9E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5256FEF-B73E-4D03-B7F3-91529BC5D3E2}"/>
                  </a:ext>
                </a:extLst>
              </p:cNvPr>
              <p:cNvSpPr/>
              <p:nvPr/>
            </p:nvSpPr>
            <p:spPr>
              <a:xfrm>
                <a:off x="6267875" y="1453412"/>
                <a:ext cx="3586198" cy="500058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800" dirty="0">
                    <a:solidFill>
                      <a:prstClr val="white">
                        <a:lumMod val="85000"/>
                      </a:prst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数据库设计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endParaRPr>
              </a:p>
            </p:txBody>
          </p:sp>
          <p:sp>
            <p:nvSpPr>
              <p:cNvPr id="123" name="标题占位符 27">
                <a:extLst>
                  <a:ext uri="{FF2B5EF4-FFF2-40B4-BE49-F238E27FC236}">
                    <a16:creationId xmlns:a16="http://schemas.microsoft.com/office/drawing/2014/main" id="{F756082D-9CE4-8D9E-4601-C240169852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defPPr>
                  <a:defRPr lang="zh-CN"/>
                </a:defPPr>
                <a:lvl1pPr algn="ctr" defTabSz="685800">
                  <a:lnSpc>
                    <a:spcPct val="120000"/>
                  </a:lnSpc>
                  <a:spcBef>
                    <a:spcPct val="0"/>
                  </a:spcBef>
                  <a:buNone/>
                  <a:defRPr sz="4000">
                    <a:solidFill>
                      <a:schemeClr val="accent6"/>
                    </a:solidFill>
                    <a:latin typeface="+mj-lt"/>
                    <a:ea typeface="思源宋体 CN Heavy" panose="02020900000000000000" pitchFamily="18" charset="-122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03</a:t>
                </a:r>
              </a:p>
            </p:txBody>
          </p:sp>
        </p:grp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E8C5BCB2-E80B-3521-6426-DD56D93A692A}"/>
              </a:ext>
            </a:extLst>
          </p:cNvPr>
          <p:cNvGrpSpPr/>
          <p:nvPr/>
        </p:nvGrpSpPr>
        <p:grpSpPr>
          <a:xfrm>
            <a:off x="4794008" y="4377616"/>
            <a:ext cx="5384517" cy="747324"/>
            <a:chOff x="4874973" y="1293731"/>
            <a:chExt cx="5384517" cy="747324"/>
          </a:xfrm>
        </p:grpSpPr>
        <p:sp>
          <p:nvSpPr>
            <p:cNvPr id="125" name="PA-圆角矩形 5824">
              <a:extLst>
                <a:ext uri="{FF2B5EF4-FFF2-40B4-BE49-F238E27FC236}">
                  <a16:creationId xmlns:a16="http://schemas.microsoft.com/office/drawing/2014/main" id="{3F55D1D7-3822-7427-48E4-BBA2B3BC637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bg1"/>
            </a:solidFill>
            <a:ln w="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49602C44-09A6-373B-D462-DC2C53363D1F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127" name="直接连接符 126">
                <a:extLst>
                  <a:ext uri="{FF2B5EF4-FFF2-40B4-BE49-F238E27FC236}">
                    <a16:creationId xmlns:a16="http://schemas.microsoft.com/office/drawing/2014/main" id="{1F34485E-A3C1-D9F5-8724-6D8EA6E619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4960553F-6A0D-77DC-68B3-0A18564F4249}"/>
                  </a:ext>
                </a:extLst>
              </p:cNvPr>
              <p:cNvSpPr/>
              <p:nvPr/>
            </p:nvSpPr>
            <p:spPr>
              <a:xfrm>
                <a:off x="6267875" y="1453412"/>
                <a:ext cx="3586198" cy="500058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概要设计与技术验证</a:t>
                </a:r>
              </a:p>
            </p:txBody>
          </p:sp>
          <p:sp>
            <p:nvSpPr>
              <p:cNvPr id="129" name="标题占位符 27">
                <a:extLst>
                  <a:ext uri="{FF2B5EF4-FFF2-40B4-BE49-F238E27FC236}">
                    <a16:creationId xmlns:a16="http://schemas.microsoft.com/office/drawing/2014/main" id="{40025721-E718-8DE9-C6F0-458E1EB188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defPPr>
                  <a:defRPr lang="zh-CN"/>
                </a:defPPr>
                <a:lvl1pPr algn="ctr" defTabSz="685800">
                  <a:lnSpc>
                    <a:spcPct val="120000"/>
                  </a:lnSpc>
                  <a:spcBef>
                    <a:spcPct val="0"/>
                  </a:spcBef>
                  <a:buNone/>
                  <a:defRPr sz="4000">
                    <a:solidFill>
                      <a:schemeClr val="accent6"/>
                    </a:solidFill>
                    <a:latin typeface="+mj-lt"/>
                    <a:ea typeface="思源宋体 CN Heavy" panose="02020900000000000000" pitchFamily="18" charset="-122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04</a:t>
                </a:r>
              </a:p>
            </p:txBody>
          </p:sp>
        </p:grp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EF512A01-AD01-34DD-FC18-017703FA8A5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100120" y="-53789"/>
            <a:ext cx="4215566" cy="6911790"/>
          </a:xfrm>
          <a:prstGeom prst="rect">
            <a:avLst/>
          </a:prstGeom>
        </p:spPr>
      </p:pic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6D3D67DD-5A88-DBC2-C3B6-F5370E77D5AE}"/>
              </a:ext>
            </a:extLst>
          </p:cNvPr>
          <p:cNvGrpSpPr/>
          <p:nvPr/>
        </p:nvGrpSpPr>
        <p:grpSpPr>
          <a:xfrm>
            <a:off x="1067601" y="1199713"/>
            <a:ext cx="1459979" cy="4593615"/>
            <a:chOff x="1206500" y="1564791"/>
            <a:chExt cx="1184995" cy="3728417"/>
          </a:xfrm>
        </p:grpSpPr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C9647A71-6F11-3CAF-2768-805EA877BF66}"/>
                </a:ext>
              </a:extLst>
            </p:cNvPr>
            <p:cNvGrpSpPr/>
            <p:nvPr/>
          </p:nvGrpSpPr>
          <p:grpSpPr>
            <a:xfrm>
              <a:off x="1206500" y="1564791"/>
              <a:ext cx="1158307" cy="3728417"/>
              <a:chOff x="2369319" y="1489115"/>
              <a:chExt cx="1158307" cy="3728417"/>
            </a:xfrm>
          </p:grpSpPr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CF5EF6F4-3104-56FB-FA62-A945FADAE011}"/>
                  </a:ext>
                </a:extLst>
              </p:cNvPr>
              <p:cNvSpPr txBox="1"/>
              <p:nvPr/>
            </p:nvSpPr>
            <p:spPr>
              <a:xfrm rot="5400000">
                <a:off x="1260788" y="3462670"/>
                <a:ext cx="2863393" cy="646331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600" b="0" i="0" u="none" strike="noStrike" kern="1200" cap="none" spc="0" normalizeH="0" baseline="0" noProof="0" dirty="0">
                    <a:ln>
                      <a:solidFill>
                        <a:prstClr val="white">
                          <a:alpha val="22000"/>
                        </a:prstClr>
                      </a:solidFill>
                    </a:ln>
                    <a:noFill/>
                    <a:effectLst/>
                    <a:uLnTx/>
                    <a:uFillTx/>
                    <a:latin typeface="DIN Black"/>
                    <a:ea typeface="微软雅黑" panose="020B0503020204020204" pitchFamily="34" charset="-122"/>
                    <a:cs typeface="阿里巴巴普惠体 Heavy" panose="00020600040101010101" pitchFamily="18" charset="-122"/>
                  </a:rPr>
                  <a:t>CONTENTS</a:t>
                </a:r>
              </a:p>
            </p:txBody>
          </p:sp>
          <p:sp>
            <p:nvSpPr>
              <p:cNvPr id="140" name="平行四边形 139">
                <a:extLst>
                  <a:ext uri="{FF2B5EF4-FFF2-40B4-BE49-F238E27FC236}">
                    <a16:creationId xmlns:a16="http://schemas.microsoft.com/office/drawing/2014/main" id="{C6B451E2-5A62-DA95-90A2-B7EB5AB5B1D3}"/>
                  </a:ext>
                </a:extLst>
              </p:cNvPr>
              <p:cNvSpPr/>
              <p:nvPr/>
            </p:nvSpPr>
            <p:spPr>
              <a:xfrm>
                <a:off x="2610429" y="1489115"/>
                <a:ext cx="917197" cy="1784366"/>
              </a:xfrm>
              <a:prstGeom prst="parallelogram">
                <a:avLst>
                  <a:gd name="adj" fmla="val 43802"/>
                </a:avLst>
              </a:prstGeom>
              <a:gradFill>
                <a:gsLst>
                  <a:gs pos="73000">
                    <a:schemeClr val="bg1">
                      <a:alpha val="0"/>
                    </a:schemeClr>
                  </a:gs>
                  <a:gs pos="0">
                    <a:schemeClr val="bg1">
                      <a:alpha val="2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1" name="平行四边形 140">
                <a:extLst>
                  <a:ext uri="{FF2B5EF4-FFF2-40B4-BE49-F238E27FC236}">
                    <a16:creationId xmlns:a16="http://schemas.microsoft.com/office/drawing/2014/main" id="{994E0FA3-FBAC-6AF0-CF90-0F4D36A16B1A}"/>
                  </a:ext>
                </a:extLst>
              </p:cNvPr>
              <p:cNvSpPr/>
              <p:nvPr/>
            </p:nvSpPr>
            <p:spPr>
              <a:xfrm>
                <a:off x="2439546" y="1936465"/>
                <a:ext cx="584776" cy="1137656"/>
              </a:xfrm>
              <a:prstGeom prst="parallelogram">
                <a:avLst>
                  <a:gd name="adj" fmla="val 43802"/>
                </a:avLst>
              </a:prstGeom>
              <a:gradFill>
                <a:gsLst>
                  <a:gs pos="73000">
                    <a:schemeClr val="bg1">
                      <a:alpha val="0"/>
                    </a:schemeClr>
                  </a:gs>
                  <a:gs pos="0">
                    <a:schemeClr val="bg1">
                      <a:alpha val="2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142" name="直接连接符 141">
                <a:extLst>
                  <a:ext uri="{FF2B5EF4-FFF2-40B4-BE49-F238E27FC236}">
                    <a16:creationId xmlns:a16="http://schemas.microsoft.com/office/drawing/2014/main" id="{AF5651A3-9296-8DD8-E961-B7ADB8B246EA}"/>
                  </a:ext>
                </a:extLst>
              </p:cNvPr>
              <p:cNvCxnSpPr/>
              <p:nvPr/>
            </p:nvCxnSpPr>
            <p:spPr>
              <a:xfrm>
                <a:off x="3069028" y="2981499"/>
                <a:ext cx="0" cy="2056789"/>
              </a:xfrm>
              <a:prstGeom prst="line">
                <a:avLst/>
              </a:prstGeom>
              <a:ln>
                <a:solidFill>
                  <a:schemeClr val="bg1">
                    <a:alpha val="17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A18BB9C8-8C28-1906-B046-9D17A25641EE}"/>
                </a:ext>
              </a:extLst>
            </p:cNvPr>
            <p:cNvSpPr txBox="1"/>
            <p:nvPr/>
          </p:nvSpPr>
          <p:spPr>
            <a:xfrm>
              <a:off x="1986274" y="1616018"/>
              <a:ext cx="405221" cy="3372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内容导览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1455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29D54-37EB-EA19-0BAF-D60AA01B1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CF84EE2-0458-EE72-90B5-1B86614DC4C8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5001F2-9412-ABDC-D1EF-B9DCF679F60A}"/>
              </a:ext>
            </a:extLst>
          </p:cNvPr>
          <p:cNvSpPr/>
          <p:nvPr/>
        </p:nvSpPr>
        <p:spPr>
          <a:xfrm>
            <a:off x="0" y="6301122"/>
            <a:ext cx="12192000" cy="6648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66A989-4D44-3EBF-EAE7-A15DBD33AFC3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 </a:t>
            </a:r>
            <a:r>
              <a:rPr lang="zh-CN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项目</a:t>
            </a:r>
            <a:r>
              <a:rPr lang="zh-CN" altLang="en-US" sz="3600" b="1" dirty="0">
                <a:solidFill>
                  <a:srgbClr val="0B4FA1"/>
                </a:solidFill>
              </a:rPr>
              <a:t>背景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6A2B3E-524D-F1B9-A351-91FE1449B414}"/>
              </a:ext>
            </a:extLst>
          </p:cNvPr>
          <p:cNvSpPr/>
          <p:nvPr/>
        </p:nvSpPr>
        <p:spPr>
          <a:xfrm>
            <a:off x="-1" y="1288186"/>
            <a:ext cx="7393173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D3E2A3-609E-30B0-13E3-0CB7184CB17E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3">
                    <a:lumMod val="50000"/>
                  </a:schemeClr>
                </a:solidFill>
              </a:rPr>
              <a:t>1.1 </a:t>
            </a:r>
            <a:r>
              <a:rPr lang="zh-CN" altLang="en-US" sz="2400" b="1" dirty="0">
                <a:solidFill>
                  <a:schemeClr val="accent3">
                    <a:lumMod val="50000"/>
                  </a:schemeClr>
                </a:solidFill>
              </a:rPr>
              <a:t>总体要求：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F66EB2E-FDAB-E398-46EE-F6875741DC0B}"/>
              </a:ext>
            </a:extLst>
          </p:cNvPr>
          <p:cNvSpPr/>
          <p:nvPr/>
        </p:nvSpPr>
        <p:spPr>
          <a:xfrm>
            <a:off x="377371" y="2231044"/>
            <a:ext cx="11437257" cy="2474306"/>
          </a:xfrm>
          <a:prstGeom prst="round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ea typeface="思源黑体 CN Medium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575ABD-7227-B188-9A77-2F8310DE62B3}"/>
              </a:ext>
            </a:extLst>
          </p:cNvPr>
          <p:cNvSpPr txBox="1"/>
          <p:nvPr/>
        </p:nvSpPr>
        <p:spPr>
          <a:xfrm>
            <a:off x="592363" y="2277615"/>
            <a:ext cx="11007272" cy="2209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系统应支持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员工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培训计划的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制定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和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执行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，包括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培训课程、培训时间、培训效果评估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等，帮助员工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提升技能水平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。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题目解释与需求分析：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计划指定与执行</a:t>
            </a:r>
            <a:r>
              <a:rPr lang="zh-CN" altLang="en-US" sz="1600" dirty="0"/>
              <a:t>：说明当前培训计划的</a:t>
            </a:r>
            <a:r>
              <a:rPr lang="zh-CN" altLang="en-US" sz="1600" b="1" dirty="0"/>
              <a:t>制定</a:t>
            </a:r>
            <a:r>
              <a:rPr lang="zh-CN" altLang="en-US" sz="1600" dirty="0"/>
              <a:t>和</a:t>
            </a:r>
            <a:r>
              <a:rPr lang="zh-CN" altLang="en-US" sz="1600" b="1" dirty="0"/>
              <a:t>管理</a:t>
            </a:r>
            <a:r>
              <a:rPr lang="zh-CN" altLang="en-US" sz="1600" dirty="0"/>
              <a:t>混乱。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培训课程与时间</a:t>
            </a:r>
            <a:r>
              <a:rPr lang="zh-CN" altLang="en-US" sz="1600" dirty="0"/>
              <a:t>：说明当前员工难以掌握</a:t>
            </a:r>
            <a:r>
              <a:rPr lang="zh-CN" altLang="en-US" sz="1600" b="1" dirty="0"/>
              <a:t>课程时间</a:t>
            </a:r>
            <a:r>
              <a:rPr lang="zh-CN" altLang="en-US" sz="1600" dirty="0"/>
              <a:t>和</a:t>
            </a:r>
            <a:r>
              <a:rPr lang="zh-CN" altLang="en-US" sz="1600" b="1" dirty="0"/>
              <a:t>课程安排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培训的效果评估</a:t>
            </a:r>
            <a:r>
              <a:rPr lang="zh-CN" altLang="en-US" sz="1600" dirty="0"/>
              <a:t>：说明当前</a:t>
            </a:r>
            <a:r>
              <a:rPr lang="zh-CN" altLang="en-US" sz="1600" b="1" dirty="0"/>
              <a:t>效果评估方式</a:t>
            </a:r>
            <a:r>
              <a:rPr lang="zh-CN" altLang="en-US" sz="1600" dirty="0"/>
              <a:t>不规范，无法掌握员工技能掌握情况。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514C1F-FB36-3433-FAAA-2C4B38F509A8}"/>
              </a:ext>
            </a:extLst>
          </p:cNvPr>
          <p:cNvSpPr txBox="1"/>
          <p:nvPr/>
        </p:nvSpPr>
        <p:spPr>
          <a:xfrm>
            <a:off x="592363" y="4920161"/>
            <a:ext cx="11007272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目标用户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：参训员工；管理岗领导；培训讲师。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4915035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B2200-11A7-9EE3-4775-E7378946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49C9572-DC5A-8628-3B0C-1FC0695A52CA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ECAEFF-7B02-D335-72D9-6676253804FF}"/>
              </a:ext>
            </a:extLst>
          </p:cNvPr>
          <p:cNvSpPr/>
          <p:nvPr/>
        </p:nvSpPr>
        <p:spPr>
          <a:xfrm>
            <a:off x="0" y="6301123"/>
            <a:ext cx="12192000" cy="6648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E2BDCF-EEC8-DD56-9FBC-66CDA23B91A2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 </a:t>
            </a:r>
            <a:r>
              <a:rPr lang="zh-CN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项目</a:t>
            </a:r>
            <a:r>
              <a:rPr lang="zh-CN" altLang="en-US" sz="3600" b="1" dirty="0">
                <a:solidFill>
                  <a:srgbClr val="0B4FA1"/>
                </a:solidFill>
              </a:rPr>
              <a:t>背景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EF7E94-A6A5-CFC6-F214-480E3181381D}"/>
              </a:ext>
            </a:extLst>
          </p:cNvPr>
          <p:cNvSpPr/>
          <p:nvPr/>
        </p:nvSpPr>
        <p:spPr>
          <a:xfrm>
            <a:off x="-1" y="1288186"/>
            <a:ext cx="7393173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E8F3AB-9617-5BCD-1CB8-4D81842DF0D4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3">
                    <a:lumMod val="50000"/>
                  </a:schemeClr>
                </a:solidFill>
              </a:rPr>
              <a:t>1.2 </a:t>
            </a:r>
            <a:r>
              <a:rPr lang="zh-CN" altLang="en-US" sz="2400" b="1" dirty="0">
                <a:solidFill>
                  <a:schemeClr val="accent3">
                    <a:lumMod val="50000"/>
                  </a:schemeClr>
                </a:solidFill>
              </a:rPr>
              <a:t>解决方案：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9681EEA-4206-886D-0971-369AC89591D1}"/>
              </a:ext>
            </a:extLst>
          </p:cNvPr>
          <p:cNvSpPr/>
          <p:nvPr/>
        </p:nvSpPr>
        <p:spPr>
          <a:xfrm>
            <a:off x="377371" y="2231044"/>
            <a:ext cx="11437257" cy="1961867"/>
          </a:xfrm>
          <a:prstGeom prst="round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ea typeface="思源黑体 CN Medium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880C19-424C-B8CE-8AEC-E0BA9AC1177D}"/>
              </a:ext>
            </a:extLst>
          </p:cNvPr>
          <p:cNvSpPr txBox="1"/>
          <p:nvPr/>
        </p:nvSpPr>
        <p:spPr>
          <a:xfrm>
            <a:off x="592363" y="2277615"/>
            <a:ext cx="11007272" cy="1655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系统应支持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员工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培训计划的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制定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和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执行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，包括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培训课程、培训时间、培训效果评估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等，帮助员工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提升技能水平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。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计划指定与执行</a:t>
            </a:r>
            <a:r>
              <a:rPr lang="zh-CN" altLang="en-US" sz="1600" dirty="0"/>
              <a:t>：系统应统一制定和管理各类培训计划。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培训课程与时间</a:t>
            </a:r>
            <a:r>
              <a:rPr lang="zh-CN" altLang="en-US" sz="1600" dirty="0"/>
              <a:t>：系统应集中展示课程信息、时间、讲师等详细内容。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培训的效果评估</a:t>
            </a:r>
            <a:r>
              <a:rPr lang="zh-CN" altLang="en-US" sz="1600" dirty="0"/>
              <a:t>：系统应通过问卷表单和实践考核，建立一个合理的评估机制。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9E5B5CB-8335-A499-2CF9-E3B9B5D392F3}"/>
              </a:ext>
            </a:extLst>
          </p:cNvPr>
          <p:cNvSpPr txBox="1"/>
          <p:nvPr/>
        </p:nvSpPr>
        <p:spPr>
          <a:xfrm>
            <a:off x="592363" y="4407722"/>
            <a:ext cx="11007272" cy="1578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系统用户类型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参训员工；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课程大纲制定者（管理岗领导）；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培训讲师。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0362781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4F119-F17D-5826-F05B-B3679D86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9">
            <a:extLst>
              <a:ext uri="{FF2B5EF4-FFF2-40B4-BE49-F238E27FC236}">
                <a16:creationId xmlns:a16="http://schemas.microsoft.com/office/drawing/2014/main" id="{34E7225F-B670-0207-7E4E-C28E688E13E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C4FB169-2066-08B7-E725-E23EA9007CB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93ECDB72-70F0-88B0-2937-B55874D6220D}"/>
              </a:ext>
            </a:extLst>
          </p:cNvPr>
          <p:cNvSpPr/>
          <p:nvPr/>
        </p:nvSpPr>
        <p:spPr>
          <a:xfrm flipH="1">
            <a:off x="2579592" y="190500"/>
            <a:ext cx="8422734" cy="6524625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bg1"/>
              </a:gs>
              <a:gs pos="99083">
                <a:schemeClr val="bg1"/>
              </a:gs>
            </a:gsLst>
            <a:lin ang="5400000" scaled="1"/>
            <a:tileRect/>
          </a:gradFill>
          <a:ln w="3175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100000"/>
                  </a:schemeClr>
                </a:gs>
              </a:gsLst>
              <a:lin ang="10800000" scaled="1"/>
              <a:tileRect/>
            </a:gradFill>
          </a:ln>
          <a:effectLst>
            <a:outerShdw blurRad="304800" sx="102000" sy="102000" algn="ctr" rotWithShape="0">
              <a:schemeClr val="accent6">
                <a:lumMod val="20000"/>
                <a:lumOff val="80000"/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cs typeface="+mn-cs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11C6A3C-A7E8-1C99-ECA3-0920808049C3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6"/>
              </a:gs>
              <a:gs pos="100000">
                <a:schemeClr val="accent6">
                  <a:lumMod val="90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65100" dist="38100" dir="2700000" algn="tl" rotWithShape="0">
              <a:schemeClr val="bg1">
                <a:lumMod val="8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cs typeface="+mn-cs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35E0326-58B3-A289-0372-C30412E8B108}"/>
              </a:ext>
            </a:extLst>
          </p:cNvPr>
          <p:cNvGrpSpPr/>
          <p:nvPr/>
        </p:nvGrpSpPr>
        <p:grpSpPr>
          <a:xfrm>
            <a:off x="4794008" y="2112221"/>
            <a:ext cx="5384517" cy="747324"/>
            <a:chOff x="4874973" y="1293731"/>
            <a:chExt cx="5384517" cy="747324"/>
          </a:xfrm>
        </p:grpSpPr>
        <p:sp>
          <p:nvSpPr>
            <p:cNvPr id="68" name="PA-圆角矩形 5824">
              <a:extLst>
                <a:ext uri="{FF2B5EF4-FFF2-40B4-BE49-F238E27FC236}">
                  <a16:creationId xmlns:a16="http://schemas.microsoft.com/office/drawing/2014/main" id="{0329E7E4-5884-CED4-4518-E0D601A2D78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accent6"/>
            </a:solidFill>
            <a:ln w="0">
              <a:solidFill>
                <a:schemeClr val="accent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AC7530E3-A997-97FB-C2C4-F4701CD1CFCD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07250B47-651E-9CCD-9BAA-BCC1BF7F2D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DC657CC8-832C-C096-B19F-97D71D707E10}"/>
                  </a:ext>
                </a:extLst>
              </p:cNvPr>
              <p:cNvSpPr/>
              <p:nvPr/>
            </p:nvSpPr>
            <p:spPr>
              <a:xfrm>
                <a:off x="6267875" y="1428373"/>
                <a:ext cx="3586198" cy="550136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51435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EC8AA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50800" dist="38100" dir="5400000" algn="t" rotWithShape="0">
                        <a:srgbClr val="0B4FA1">
                          <a:lumMod val="75000"/>
                          <a:alpha val="40000"/>
                        </a:srgbClr>
                      </a:outerShdw>
                    </a:effectLst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需求分析</a:t>
                </a:r>
              </a:p>
            </p:txBody>
          </p:sp>
          <p:sp>
            <p:nvSpPr>
              <p:cNvPr id="90" name="标题占位符 27">
                <a:extLst>
                  <a:ext uri="{FF2B5EF4-FFF2-40B4-BE49-F238E27FC236}">
                    <a16:creationId xmlns:a16="http://schemas.microsoft.com/office/drawing/2014/main" id="{043663DF-88CC-962D-FD8F-CCD53086B9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>
                    <a:solidFill>
                      <a:srgbClr val="D7000F"/>
                    </a:solidFill>
                    <a:latin typeface="+mj-ea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50800" dist="38100" dir="5400000" algn="t" rotWithShape="0">
                        <a:srgbClr val="0B4FA1">
                          <a:lumMod val="75000"/>
                          <a:alpha val="40000"/>
                        </a:srgbClr>
                      </a:outerShdw>
                    </a:effectLst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02</a:t>
                </a:r>
                <a:endPara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srgbClr val="0B4FA1">
                        <a:lumMod val="75000"/>
                        <a:alpha val="40000"/>
                      </a:srgbClr>
                    </a:outerShdw>
                  </a:effectLst>
                  <a:uLnTx/>
                  <a:uFillTx/>
                  <a:latin typeface="DIN Black"/>
                  <a:ea typeface="思源宋体 CN Heavy" panose="02020900000000000000" pitchFamily="18" charset="-122"/>
                  <a:cs typeface="+mj-cs"/>
                </a:endParaRPr>
              </a:p>
            </p:txBody>
          </p:sp>
        </p:grp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DC7B013-BB88-2F48-A78A-7F48388DEEF1}"/>
              </a:ext>
            </a:extLst>
          </p:cNvPr>
          <p:cNvGrpSpPr/>
          <p:nvPr/>
        </p:nvGrpSpPr>
        <p:grpSpPr>
          <a:xfrm>
            <a:off x="4794008" y="967909"/>
            <a:ext cx="5384517" cy="747324"/>
            <a:chOff x="4874973" y="1293731"/>
            <a:chExt cx="5384517" cy="747324"/>
          </a:xfrm>
        </p:grpSpPr>
        <p:sp>
          <p:nvSpPr>
            <p:cNvPr id="101" name="PA-圆角矩形 5824">
              <a:extLst>
                <a:ext uri="{FF2B5EF4-FFF2-40B4-BE49-F238E27FC236}">
                  <a16:creationId xmlns:a16="http://schemas.microsoft.com/office/drawing/2014/main" id="{B226C127-D4A1-0625-82B3-7E043BE780E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bg1"/>
            </a:solidFill>
            <a:ln w="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BEAB95EE-6FD4-7AB7-B0BA-C293632F0389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C402980A-14CB-5822-8B86-23E26975C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DA810133-7C53-FF65-EA54-006C2855DCEF}"/>
                  </a:ext>
                </a:extLst>
              </p:cNvPr>
              <p:cNvSpPr/>
              <p:nvPr/>
            </p:nvSpPr>
            <p:spPr>
              <a:xfrm>
                <a:off x="6267875" y="1428373"/>
                <a:ext cx="3586198" cy="550136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51435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EC8AA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项目背景</a:t>
                </a:r>
              </a:p>
            </p:txBody>
          </p:sp>
          <p:sp>
            <p:nvSpPr>
              <p:cNvPr id="105" name="标题占位符 27">
                <a:extLst>
                  <a:ext uri="{FF2B5EF4-FFF2-40B4-BE49-F238E27FC236}">
                    <a16:creationId xmlns:a16="http://schemas.microsoft.com/office/drawing/2014/main" id="{E4EAE0AA-4189-EA17-4DAC-ECC5BEF298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defPPr>
                  <a:defRPr lang="zh-CN"/>
                </a:defPPr>
                <a:lvl1pPr algn="ctr" defTabSz="685800">
                  <a:lnSpc>
                    <a:spcPct val="120000"/>
                  </a:lnSpc>
                  <a:spcBef>
                    <a:spcPct val="0"/>
                  </a:spcBef>
                  <a:buNone/>
                  <a:defRPr sz="4000">
                    <a:solidFill>
                      <a:schemeClr val="accent6"/>
                    </a:solidFill>
                    <a:latin typeface="+mj-lt"/>
                    <a:ea typeface="思源宋体 CN Heavy" panose="02020900000000000000" pitchFamily="18" charset="-122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01</a:t>
                </a:r>
              </a:p>
            </p:txBody>
          </p:sp>
        </p:grp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46BC09D2-FD05-EA0A-5941-537490388C17}"/>
              </a:ext>
            </a:extLst>
          </p:cNvPr>
          <p:cNvGrpSpPr/>
          <p:nvPr/>
        </p:nvGrpSpPr>
        <p:grpSpPr>
          <a:xfrm>
            <a:off x="4794008" y="3245119"/>
            <a:ext cx="5384517" cy="747324"/>
            <a:chOff x="4874973" y="1293731"/>
            <a:chExt cx="5384517" cy="747324"/>
          </a:xfrm>
        </p:grpSpPr>
        <p:sp>
          <p:nvSpPr>
            <p:cNvPr id="119" name="PA-圆角矩形 5824">
              <a:extLst>
                <a:ext uri="{FF2B5EF4-FFF2-40B4-BE49-F238E27FC236}">
                  <a16:creationId xmlns:a16="http://schemas.microsoft.com/office/drawing/2014/main" id="{3EF8BD1D-E4E7-A756-0CBB-0F28BD8950F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bg1"/>
            </a:solidFill>
            <a:ln w="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C024ADE3-31BB-F940-8063-7DD07E36362F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121" name="直接连接符 120">
                <a:extLst>
                  <a:ext uri="{FF2B5EF4-FFF2-40B4-BE49-F238E27FC236}">
                    <a16:creationId xmlns:a16="http://schemas.microsoft.com/office/drawing/2014/main" id="{DDC77390-0DA8-AF48-DC3A-F6B4270C02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E4399C6F-FA6A-2A0F-C905-113190C2D649}"/>
                  </a:ext>
                </a:extLst>
              </p:cNvPr>
              <p:cNvSpPr/>
              <p:nvPr/>
            </p:nvSpPr>
            <p:spPr>
              <a:xfrm>
                <a:off x="6267875" y="1453412"/>
                <a:ext cx="3586198" cy="500058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数据库设计</a:t>
                </a:r>
              </a:p>
            </p:txBody>
          </p:sp>
          <p:sp>
            <p:nvSpPr>
              <p:cNvPr id="123" name="标题占位符 27">
                <a:extLst>
                  <a:ext uri="{FF2B5EF4-FFF2-40B4-BE49-F238E27FC236}">
                    <a16:creationId xmlns:a16="http://schemas.microsoft.com/office/drawing/2014/main" id="{233CAE61-A198-6F39-9C7E-FA4513A3FD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defPPr>
                  <a:defRPr lang="zh-CN"/>
                </a:defPPr>
                <a:lvl1pPr algn="ctr" defTabSz="685800">
                  <a:lnSpc>
                    <a:spcPct val="120000"/>
                  </a:lnSpc>
                  <a:spcBef>
                    <a:spcPct val="0"/>
                  </a:spcBef>
                  <a:buNone/>
                  <a:defRPr sz="4000">
                    <a:solidFill>
                      <a:schemeClr val="accent6"/>
                    </a:solidFill>
                    <a:latin typeface="+mj-lt"/>
                    <a:ea typeface="思源宋体 CN Heavy" panose="02020900000000000000" pitchFamily="18" charset="-122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03</a:t>
                </a:r>
              </a:p>
            </p:txBody>
          </p:sp>
        </p:grp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1DCDD764-4567-B776-0659-667DACF4C542}"/>
              </a:ext>
            </a:extLst>
          </p:cNvPr>
          <p:cNvGrpSpPr/>
          <p:nvPr/>
        </p:nvGrpSpPr>
        <p:grpSpPr>
          <a:xfrm>
            <a:off x="4794008" y="4377616"/>
            <a:ext cx="5384517" cy="747324"/>
            <a:chOff x="4874973" y="1293731"/>
            <a:chExt cx="5384517" cy="747324"/>
          </a:xfrm>
        </p:grpSpPr>
        <p:sp>
          <p:nvSpPr>
            <p:cNvPr id="125" name="PA-圆角矩形 5824">
              <a:extLst>
                <a:ext uri="{FF2B5EF4-FFF2-40B4-BE49-F238E27FC236}">
                  <a16:creationId xmlns:a16="http://schemas.microsoft.com/office/drawing/2014/main" id="{31504AE7-3421-9CFA-C6A9-B94988EECCC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bg1"/>
            </a:solidFill>
            <a:ln w="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5BF026B8-D7D2-658B-0BBD-ADA0B9026481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127" name="直接连接符 126">
                <a:extLst>
                  <a:ext uri="{FF2B5EF4-FFF2-40B4-BE49-F238E27FC236}">
                    <a16:creationId xmlns:a16="http://schemas.microsoft.com/office/drawing/2014/main" id="{2418A889-8B90-583B-C37D-51BA8BBDC9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AD54EA85-BA5D-BDE1-C080-D78E70E3B5F4}"/>
                  </a:ext>
                </a:extLst>
              </p:cNvPr>
              <p:cNvSpPr/>
              <p:nvPr/>
            </p:nvSpPr>
            <p:spPr>
              <a:xfrm>
                <a:off x="6267875" y="1453412"/>
                <a:ext cx="3586198" cy="500058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概要设计与技术验证</a:t>
                </a:r>
              </a:p>
            </p:txBody>
          </p:sp>
          <p:sp>
            <p:nvSpPr>
              <p:cNvPr id="129" name="标题占位符 27">
                <a:extLst>
                  <a:ext uri="{FF2B5EF4-FFF2-40B4-BE49-F238E27FC236}">
                    <a16:creationId xmlns:a16="http://schemas.microsoft.com/office/drawing/2014/main" id="{47C2CE27-D9AC-581D-6B32-F72EC05D4C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defPPr>
                  <a:defRPr lang="zh-CN"/>
                </a:defPPr>
                <a:lvl1pPr algn="ctr" defTabSz="685800">
                  <a:lnSpc>
                    <a:spcPct val="120000"/>
                  </a:lnSpc>
                  <a:spcBef>
                    <a:spcPct val="0"/>
                  </a:spcBef>
                  <a:buNone/>
                  <a:defRPr sz="4000">
                    <a:solidFill>
                      <a:schemeClr val="accent6"/>
                    </a:solidFill>
                    <a:latin typeface="+mj-lt"/>
                    <a:ea typeface="思源宋体 CN Heavy" panose="02020900000000000000" pitchFamily="18" charset="-122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04</a:t>
                </a:r>
              </a:p>
            </p:txBody>
          </p:sp>
        </p:grp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7252D7D1-459D-93D5-BAE3-C819A7AC06B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100120" y="-53789"/>
            <a:ext cx="4215566" cy="6911790"/>
          </a:xfrm>
          <a:prstGeom prst="rect">
            <a:avLst/>
          </a:prstGeom>
        </p:spPr>
      </p:pic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0CCD7BD4-109D-69D1-C4A6-660EC0A388C7}"/>
              </a:ext>
            </a:extLst>
          </p:cNvPr>
          <p:cNvGrpSpPr/>
          <p:nvPr/>
        </p:nvGrpSpPr>
        <p:grpSpPr>
          <a:xfrm>
            <a:off x="1067601" y="1199713"/>
            <a:ext cx="1459979" cy="4593615"/>
            <a:chOff x="1206500" y="1564791"/>
            <a:chExt cx="1184995" cy="3728417"/>
          </a:xfrm>
        </p:grpSpPr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024F2E20-AC8C-FD8F-E2C4-1062AED49492}"/>
                </a:ext>
              </a:extLst>
            </p:cNvPr>
            <p:cNvGrpSpPr/>
            <p:nvPr/>
          </p:nvGrpSpPr>
          <p:grpSpPr>
            <a:xfrm>
              <a:off x="1206500" y="1564791"/>
              <a:ext cx="1158307" cy="3728417"/>
              <a:chOff x="2369319" y="1489115"/>
              <a:chExt cx="1158307" cy="3728417"/>
            </a:xfrm>
          </p:grpSpPr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74FAD755-AB02-3197-48F9-8170394950C9}"/>
                  </a:ext>
                </a:extLst>
              </p:cNvPr>
              <p:cNvSpPr txBox="1"/>
              <p:nvPr/>
            </p:nvSpPr>
            <p:spPr>
              <a:xfrm rot="5400000">
                <a:off x="1260788" y="3462670"/>
                <a:ext cx="2863393" cy="646331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600" b="0" i="0" u="none" strike="noStrike" kern="1200" cap="none" spc="0" normalizeH="0" baseline="0" noProof="0" dirty="0">
                    <a:ln>
                      <a:solidFill>
                        <a:prstClr val="white">
                          <a:alpha val="22000"/>
                        </a:prstClr>
                      </a:solidFill>
                    </a:ln>
                    <a:noFill/>
                    <a:effectLst/>
                    <a:uLnTx/>
                    <a:uFillTx/>
                    <a:latin typeface="DIN Black"/>
                    <a:ea typeface="微软雅黑" panose="020B0503020204020204" pitchFamily="34" charset="-122"/>
                    <a:cs typeface="阿里巴巴普惠体 Heavy" panose="00020600040101010101" pitchFamily="18" charset="-122"/>
                  </a:rPr>
                  <a:t>CONTENTS</a:t>
                </a:r>
              </a:p>
            </p:txBody>
          </p:sp>
          <p:sp>
            <p:nvSpPr>
              <p:cNvPr id="140" name="平行四边形 139">
                <a:extLst>
                  <a:ext uri="{FF2B5EF4-FFF2-40B4-BE49-F238E27FC236}">
                    <a16:creationId xmlns:a16="http://schemas.microsoft.com/office/drawing/2014/main" id="{DB428CC6-6951-5960-CD7F-56BB525DDD63}"/>
                  </a:ext>
                </a:extLst>
              </p:cNvPr>
              <p:cNvSpPr/>
              <p:nvPr/>
            </p:nvSpPr>
            <p:spPr>
              <a:xfrm>
                <a:off x="2610429" y="1489115"/>
                <a:ext cx="917197" cy="1784366"/>
              </a:xfrm>
              <a:prstGeom prst="parallelogram">
                <a:avLst>
                  <a:gd name="adj" fmla="val 43802"/>
                </a:avLst>
              </a:prstGeom>
              <a:gradFill>
                <a:gsLst>
                  <a:gs pos="73000">
                    <a:schemeClr val="bg1">
                      <a:alpha val="0"/>
                    </a:schemeClr>
                  </a:gs>
                  <a:gs pos="0">
                    <a:schemeClr val="bg1">
                      <a:alpha val="2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1" name="平行四边形 140">
                <a:extLst>
                  <a:ext uri="{FF2B5EF4-FFF2-40B4-BE49-F238E27FC236}">
                    <a16:creationId xmlns:a16="http://schemas.microsoft.com/office/drawing/2014/main" id="{90BEAABC-7A9B-D38A-026E-A333C816B278}"/>
                  </a:ext>
                </a:extLst>
              </p:cNvPr>
              <p:cNvSpPr/>
              <p:nvPr/>
            </p:nvSpPr>
            <p:spPr>
              <a:xfrm>
                <a:off x="2439546" y="1936465"/>
                <a:ext cx="584776" cy="1137656"/>
              </a:xfrm>
              <a:prstGeom prst="parallelogram">
                <a:avLst>
                  <a:gd name="adj" fmla="val 43802"/>
                </a:avLst>
              </a:prstGeom>
              <a:gradFill>
                <a:gsLst>
                  <a:gs pos="73000">
                    <a:schemeClr val="bg1">
                      <a:alpha val="0"/>
                    </a:schemeClr>
                  </a:gs>
                  <a:gs pos="0">
                    <a:schemeClr val="bg1">
                      <a:alpha val="2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142" name="直接连接符 141">
                <a:extLst>
                  <a:ext uri="{FF2B5EF4-FFF2-40B4-BE49-F238E27FC236}">
                    <a16:creationId xmlns:a16="http://schemas.microsoft.com/office/drawing/2014/main" id="{44AA2FC8-F757-4AB0-A4A7-019A5D8D9B12}"/>
                  </a:ext>
                </a:extLst>
              </p:cNvPr>
              <p:cNvCxnSpPr/>
              <p:nvPr/>
            </p:nvCxnSpPr>
            <p:spPr>
              <a:xfrm>
                <a:off x="3069028" y="2981499"/>
                <a:ext cx="0" cy="2056789"/>
              </a:xfrm>
              <a:prstGeom prst="line">
                <a:avLst/>
              </a:prstGeom>
              <a:ln>
                <a:solidFill>
                  <a:schemeClr val="bg1">
                    <a:alpha val="17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960A324-87A3-E448-1DB5-F73E748FAEB9}"/>
                </a:ext>
              </a:extLst>
            </p:cNvPr>
            <p:cNvSpPr txBox="1"/>
            <p:nvPr/>
          </p:nvSpPr>
          <p:spPr>
            <a:xfrm>
              <a:off x="1986274" y="1616018"/>
              <a:ext cx="405221" cy="3372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内容导览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840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532FD-9AC7-5A04-FB6E-A9BC92A29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98D24A2-3B8C-8926-1B2F-9769D7DF4D12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D61CBA-EBA7-6D3D-182A-C37097048692}"/>
              </a:ext>
            </a:extLst>
          </p:cNvPr>
          <p:cNvSpPr/>
          <p:nvPr/>
        </p:nvSpPr>
        <p:spPr>
          <a:xfrm>
            <a:off x="0" y="6232310"/>
            <a:ext cx="12192000" cy="7336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F0FE36-61FA-23A6-DF54-0E6A5C4D4F44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需求</a:t>
            </a:r>
            <a:r>
              <a:rPr lang="zh-CN" altLang="en-US" sz="3600" b="1" dirty="0">
                <a:solidFill>
                  <a:srgbClr val="0B4FA1"/>
                </a:solidFill>
                <a:latin typeface="等线" panose="020F0502020204030204"/>
                <a:ea typeface="等线" panose="02010600030101010101" pitchFamily="2" charset="-122"/>
              </a:rPr>
              <a:t>分析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B4FA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50C9FE-1B5C-8A3C-F762-842F1055D44E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38712D-250F-7B0D-9628-EB616FA5970F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srgbClr val="A5A5A5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.</a:t>
            </a:r>
            <a:r>
              <a:rPr lang="en-US" altLang="zh-CN" sz="2400" b="1" dirty="0">
                <a:solidFill>
                  <a:srgbClr val="A5A5A5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功能性需求：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5C928A-670D-E9C2-BE13-4EF0CC435064}"/>
              </a:ext>
            </a:extLst>
          </p:cNvPr>
          <p:cNvSpPr txBox="1"/>
          <p:nvPr/>
        </p:nvSpPr>
        <p:spPr>
          <a:xfrm>
            <a:off x="3419681" y="2562169"/>
            <a:ext cx="2663414" cy="2686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培训计划管理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创建培训计划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删除培训计划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修改培训计划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查询指定培训计划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查询计划执行状态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添加课程到培训计划里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A24C9DF9-713F-0E50-25D3-3755DF82F890}"/>
              </a:ext>
            </a:extLst>
          </p:cNvPr>
          <p:cNvSpPr/>
          <p:nvPr/>
        </p:nvSpPr>
        <p:spPr>
          <a:xfrm>
            <a:off x="2711244" y="2710859"/>
            <a:ext cx="523875" cy="24574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570269-2634-DD3B-C579-681F783811F4}"/>
              </a:ext>
            </a:extLst>
          </p:cNvPr>
          <p:cNvSpPr txBox="1"/>
          <p:nvPr/>
        </p:nvSpPr>
        <p:spPr>
          <a:xfrm>
            <a:off x="7680737" y="2852228"/>
            <a:ext cx="1800019" cy="1947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课程管理：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创建培训课程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查询培训课程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修改培训课程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删除培训课程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7D0F8AE7-24B8-9C26-5173-492464895268}"/>
              </a:ext>
            </a:extLst>
          </p:cNvPr>
          <p:cNvSpPr/>
          <p:nvPr/>
        </p:nvSpPr>
        <p:spPr>
          <a:xfrm>
            <a:off x="7025572" y="2988796"/>
            <a:ext cx="523875" cy="18254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84234D-F35D-8632-4653-5F305B6EC222}"/>
              </a:ext>
            </a:extLst>
          </p:cNvPr>
          <p:cNvSpPr txBox="1"/>
          <p:nvPr/>
        </p:nvSpPr>
        <p:spPr>
          <a:xfrm>
            <a:off x="765791" y="3609926"/>
            <a:ext cx="1825214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课程大纲制定者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061F5D-0D59-8CF9-C770-301653C0F00A}"/>
              </a:ext>
            </a:extLst>
          </p:cNvPr>
          <p:cNvSpPr/>
          <p:nvPr/>
        </p:nvSpPr>
        <p:spPr>
          <a:xfrm>
            <a:off x="9334500" y="5684160"/>
            <a:ext cx="28575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30481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93F17-7038-E4A8-1FF2-6C915F69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3D8811A-6878-3039-0829-F45447EFE8C4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BCC931-776E-1D20-1372-7E0E1E6CA31E}"/>
              </a:ext>
            </a:extLst>
          </p:cNvPr>
          <p:cNvSpPr/>
          <p:nvPr/>
        </p:nvSpPr>
        <p:spPr>
          <a:xfrm>
            <a:off x="0" y="6705600"/>
            <a:ext cx="12192000" cy="2603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2D24CC-A4FE-28D3-A532-914FD926DBBB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需求</a:t>
            </a:r>
            <a:r>
              <a:rPr lang="zh-CN" altLang="en-US" sz="3600" b="1" dirty="0">
                <a:solidFill>
                  <a:srgbClr val="0B4FA1"/>
                </a:solidFill>
                <a:latin typeface="等线" panose="020F0502020204030204"/>
                <a:ea typeface="等线" panose="02010600030101010101" pitchFamily="2" charset="-122"/>
              </a:rPr>
              <a:t>分析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B4FA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8B955A-F648-3661-3480-0CE4C1B7720D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2C4F83-D5D6-6105-0D34-49136E8A3DB0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srgbClr val="A5A5A5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.</a:t>
            </a:r>
            <a:r>
              <a:rPr lang="en-US" altLang="zh-CN" sz="2400" b="1" dirty="0">
                <a:solidFill>
                  <a:srgbClr val="A5A5A5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功能性需求：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6553347-1FB7-E94C-4422-5411DF2E07BD}"/>
              </a:ext>
            </a:extLst>
          </p:cNvPr>
          <p:cNvSpPr txBox="1"/>
          <p:nvPr/>
        </p:nvSpPr>
        <p:spPr>
          <a:xfrm>
            <a:off x="2768190" y="2035444"/>
            <a:ext cx="2203860" cy="1578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时间安排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提醒今日上课时间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提醒今日上课地点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提醒今日上课要求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FC822A03-5C5C-3C71-004A-C7E8CA3A6FF5}"/>
              </a:ext>
            </a:extLst>
          </p:cNvPr>
          <p:cNvSpPr/>
          <p:nvPr/>
        </p:nvSpPr>
        <p:spPr>
          <a:xfrm>
            <a:off x="4519319" y="4557755"/>
            <a:ext cx="523875" cy="16368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3113296-E392-6981-8C1E-FE8554781F18}"/>
              </a:ext>
            </a:extLst>
          </p:cNvPr>
          <p:cNvSpPr txBox="1"/>
          <p:nvPr/>
        </p:nvSpPr>
        <p:spPr>
          <a:xfrm>
            <a:off x="114300" y="2568851"/>
            <a:ext cx="1825214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讲师、员工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8B5EC4-E037-2B9A-5853-E727170FDBB1}"/>
              </a:ext>
            </a:extLst>
          </p:cNvPr>
          <p:cNvSpPr txBox="1"/>
          <p:nvPr/>
        </p:nvSpPr>
        <p:spPr>
          <a:xfrm>
            <a:off x="6096000" y="3984142"/>
            <a:ext cx="4346985" cy="2316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效果评估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员工自评或提交问卷，形成掌握情况得分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讲师给员工进行评价，形成掌握情况得分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查看单个员工的加权评价体系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查看课程的加权评价体系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查看培训计划加权评价体系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8D187256-C1D5-D161-69F6-F977FF8AB8B8}"/>
              </a:ext>
            </a:extLst>
          </p:cNvPr>
          <p:cNvSpPr/>
          <p:nvPr/>
        </p:nvSpPr>
        <p:spPr>
          <a:xfrm>
            <a:off x="5570949" y="4557755"/>
            <a:ext cx="523875" cy="83043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BB1EBD-D9C4-10A4-2AC7-E8EF700D164D}"/>
              </a:ext>
            </a:extLst>
          </p:cNvPr>
          <p:cNvSpPr txBox="1"/>
          <p:nvPr/>
        </p:nvSpPr>
        <p:spPr>
          <a:xfrm>
            <a:off x="4737511" y="4689400"/>
            <a:ext cx="832850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员工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567E43EB-3D38-8341-2DF0-2B7D2E5B8698}"/>
              </a:ext>
            </a:extLst>
          </p:cNvPr>
          <p:cNvSpPr/>
          <p:nvPr/>
        </p:nvSpPr>
        <p:spPr>
          <a:xfrm rot="10800000">
            <a:off x="10302284" y="5020410"/>
            <a:ext cx="667515" cy="757303"/>
          </a:xfrm>
          <a:prstGeom prst="leftBrace">
            <a:avLst>
              <a:gd name="adj1" fmla="val 8481"/>
              <a:gd name="adj2" fmla="val 50000"/>
            </a:avLst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16D034-889E-A0D0-F6AD-7A936F51EE8B}"/>
              </a:ext>
            </a:extLst>
          </p:cNvPr>
          <p:cNvSpPr txBox="1"/>
          <p:nvPr/>
        </p:nvSpPr>
        <p:spPr>
          <a:xfrm>
            <a:off x="10872816" y="5098965"/>
            <a:ext cx="832850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讲师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2DB93F57-3BAB-E918-52A5-8275D857F543}"/>
              </a:ext>
            </a:extLst>
          </p:cNvPr>
          <p:cNvSpPr/>
          <p:nvPr/>
        </p:nvSpPr>
        <p:spPr>
          <a:xfrm>
            <a:off x="2212153" y="2336534"/>
            <a:ext cx="523875" cy="136470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DA04E9-420F-E877-8CD8-23688A68A9C7}"/>
              </a:ext>
            </a:extLst>
          </p:cNvPr>
          <p:cNvSpPr txBox="1"/>
          <p:nvPr/>
        </p:nvSpPr>
        <p:spPr>
          <a:xfrm>
            <a:off x="2618213" y="5091073"/>
            <a:ext cx="1825214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课程大纲制定者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E11BB9A-B05F-77EC-194A-ED576F085E31}"/>
              </a:ext>
            </a:extLst>
          </p:cNvPr>
          <p:cNvSpPr/>
          <p:nvPr/>
        </p:nvSpPr>
        <p:spPr>
          <a:xfrm>
            <a:off x="377372" y="2100416"/>
            <a:ext cx="5288797" cy="1815746"/>
          </a:xfrm>
          <a:prstGeom prst="round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ea typeface="思源黑体 CN Medium"/>
              <a:cs typeface="+mn-cs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84855BD-B774-A199-6231-8905FE39EF78}"/>
              </a:ext>
            </a:extLst>
          </p:cNvPr>
          <p:cNvSpPr/>
          <p:nvPr/>
        </p:nvSpPr>
        <p:spPr>
          <a:xfrm>
            <a:off x="2423886" y="4067988"/>
            <a:ext cx="9463314" cy="2452922"/>
          </a:xfrm>
          <a:prstGeom prst="round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ea typeface="思源黑体 CN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68974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FF066-7D8A-8797-D483-8067B422F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5FA9135-0F31-62A9-BC33-60DD33F529AB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037686-A599-80FE-7292-4EF43465CAFE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需求</a:t>
            </a:r>
            <a:r>
              <a:rPr lang="zh-CN" altLang="en-US" sz="3600" b="1" dirty="0">
                <a:solidFill>
                  <a:srgbClr val="0B4FA1"/>
                </a:solidFill>
                <a:latin typeface="等线" panose="020F0502020204030204"/>
                <a:ea typeface="等线" panose="02010600030101010101" pitchFamily="2" charset="-122"/>
              </a:rPr>
              <a:t>分析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B4FA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40F346E-AFF0-059C-DA04-E91674513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205" y="1333905"/>
            <a:ext cx="7679470" cy="515706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3BF442B-D674-8A42-F926-3D18D157A86D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srgbClr val="A5A5A5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.2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泳道图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B35E7F-3C95-BAAB-FA5A-8237988DBB65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12FD6C-30AA-93EF-6B77-A10640E84029}"/>
              </a:ext>
            </a:extLst>
          </p:cNvPr>
          <p:cNvSpPr/>
          <p:nvPr/>
        </p:nvSpPr>
        <p:spPr>
          <a:xfrm>
            <a:off x="0" y="6536688"/>
            <a:ext cx="12192000" cy="42926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251619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7A1EA-8599-BB0E-C41B-50FCF8A4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9">
            <a:extLst>
              <a:ext uri="{FF2B5EF4-FFF2-40B4-BE49-F238E27FC236}">
                <a16:creationId xmlns:a16="http://schemas.microsoft.com/office/drawing/2014/main" id="{FE3222D5-8E92-6ECC-2908-0A8C1E830D4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75D681E-0846-6348-3B58-EF33156DBFB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CCF5BAD3-5DB5-BBE7-1535-0C78E366E0F3}"/>
              </a:ext>
            </a:extLst>
          </p:cNvPr>
          <p:cNvSpPr/>
          <p:nvPr/>
        </p:nvSpPr>
        <p:spPr>
          <a:xfrm flipH="1">
            <a:off x="2579592" y="190500"/>
            <a:ext cx="8422734" cy="6524625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bg1"/>
              </a:gs>
              <a:gs pos="99083">
                <a:schemeClr val="bg1"/>
              </a:gs>
            </a:gsLst>
            <a:lin ang="5400000" scaled="1"/>
            <a:tileRect/>
          </a:gradFill>
          <a:ln w="3175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100000"/>
                  </a:schemeClr>
                </a:gs>
              </a:gsLst>
              <a:lin ang="10800000" scaled="1"/>
              <a:tileRect/>
            </a:gradFill>
          </a:ln>
          <a:effectLst>
            <a:outerShdw blurRad="304800" sx="102000" sy="102000" algn="ctr" rotWithShape="0">
              <a:schemeClr val="accent6">
                <a:lumMod val="20000"/>
                <a:lumOff val="80000"/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cs typeface="+mn-cs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336B0ED-8E83-81F5-4D21-5D2BFA32A22A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6"/>
              </a:gs>
              <a:gs pos="100000">
                <a:schemeClr val="accent6">
                  <a:lumMod val="90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65100" dist="38100" dir="2700000" algn="tl" rotWithShape="0">
              <a:schemeClr val="bg1">
                <a:lumMod val="8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cs typeface="+mn-cs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8684E291-573D-337E-95CF-9D1FD916C91D}"/>
              </a:ext>
            </a:extLst>
          </p:cNvPr>
          <p:cNvGrpSpPr/>
          <p:nvPr/>
        </p:nvGrpSpPr>
        <p:grpSpPr>
          <a:xfrm>
            <a:off x="4794008" y="3244718"/>
            <a:ext cx="5384517" cy="747324"/>
            <a:chOff x="4874973" y="1293731"/>
            <a:chExt cx="5384517" cy="747324"/>
          </a:xfrm>
        </p:grpSpPr>
        <p:sp>
          <p:nvSpPr>
            <p:cNvPr id="68" name="PA-圆角矩形 5824">
              <a:extLst>
                <a:ext uri="{FF2B5EF4-FFF2-40B4-BE49-F238E27FC236}">
                  <a16:creationId xmlns:a16="http://schemas.microsoft.com/office/drawing/2014/main" id="{9C821AC9-BAE5-6FEB-C5F7-BF8C9971788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accent6"/>
            </a:solidFill>
            <a:ln w="0">
              <a:solidFill>
                <a:schemeClr val="accent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83211E00-819E-EF21-DE74-F12184BB9DFF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190709C2-C5CD-63CC-5628-2534EE71BF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6F86F63F-6CCF-7E84-E8DB-B734A7E2C907}"/>
                  </a:ext>
                </a:extLst>
              </p:cNvPr>
              <p:cNvSpPr/>
              <p:nvPr/>
            </p:nvSpPr>
            <p:spPr>
              <a:xfrm>
                <a:off x="6267875" y="1428373"/>
                <a:ext cx="3586198" cy="550136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51435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EC8AA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50800" dist="38100" dir="5400000" algn="t" rotWithShape="0">
                        <a:srgbClr val="0B4FA1">
                          <a:lumMod val="75000"/>
                          <a:alpha val="40000"/>
                        </a:srgbClr>
                      </a:outerShdw>
                    </a:effectLst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数据库设计</a:t>
                </a:r>
              </a:p>
            </p:txBody>
          </p:sp>
          <p:sp>
            <p:nvSpPr>
              <p:cNvPr id="90" name="标题占位符 27">
                <a:extLst>
                  <a:ext uri="{FF2B5EF4-FFF2-40B4-BE49-F238E27FC236}">
                    <a16:creationId xmlns:a16="http://schemas.microsoft.com/office/drawing/2014/main" id="{871E1F51-913B-CDDE-F2BE-C065CDB8F0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>
                    <a:solidFill>
                      <a:srgbClr val="D7000F"/>
                    </a:solidFill>
                    <a:latin typeface="+mj-ea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50800" dist="38100" dir="5400000" algn="t" rotWithShape="0">
                        <a:srgbClr val="0B4FA1">
                          <a:lumMod val="75000"/>
                          <a:alpha val="40000"/>
                        </a:srgbClr>
                      </a:outerShdw>
                    </a:effectLst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</a:t>
                </a:r>
                <a:r>
                  <a:rPr lang="en-US" altLang="zh-CN" sz="4000" dirty="0">
                    <a:solidFill>
                      <a:prstClr val="white"/>
                    </a:solidFill>
                    <a:effectLst>
                      <a:outerShdw blurRad="50800" dist="38100" dir="5400000" algn="t" rotWithShape="0">
                        <a:srgbClr val="0B4FA1">
                          <a:lumMod val="75000"/>
                          <a:alpha val="40000"/>
                        </a:srgbClr>
                      </a:outerShdw>
                    </a:effectLst>
                    <a:latin typeface="DIN Black"/>
                    <a:ea typeface="思源宋体 CN Heavy" panose="02020900000000000000" pitchFamily="18" charset="-122"/>
                  </a:rPr>
                  <a:t>3</a:t>
                </a:r>
                <a:endPara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srgbClr val="0B4FA1">
                        <a:lumMod val="75000"/>
                        <a:alpha val="40000"/>
                      </a:srgbClr>
                    </a:outerShdw>
                  </a:effectLst>
                  <a:uLnTx/>
                  <a:uFillTx/>
                  <a:latin typeface="DIN Black"/>
                  <a:ea typeface="思源宋体 CN Heavy" panose="02020900000000000000" pitchFamily="18" charset="-122"/>
                  <a:cs typeface="+mj-cs"/>
                </a:endParaRPr>
              </a:p>
            </p:txBody>
          </p:sp>
        </p:grp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A9472B60-C895-D4CD-2980-C46C1A54EC12}"/>
              </a:ext>
            </a:extLst>
          </p:cNvPr>
          <p:cNvGrpSpPr/>
          <p:nvPr/>
        </p:nvGrpSpPr>
        <p:grpSpPr>
          <a:xfrm>
            <a:off x="4794008" y="967909"/>
            <a:ext cx="5384517" cy="747324"/>
            <a:chOff x="4874973" y="1293731"/>
            <a:chExt cx="5384517" cy="747324"/>
          </a:xfrm>
        </p:grpSpPr>
        <p:sp>
          <p:nvSpPr>
            <p:cNvPr id="101" name="PA-圆角矩形 5824">
              <a:extLst>
                <a:ext uri="{FF2B5EF4-FFF2-40B4-BE49-F238E27FC236}">
                  <a16:creationId xmlns:a16="http://schemas.microsoft.com/office/drawing/2014/main" id="{3A9D1C92-D2D2-1BBC-8E97-DAD0C6672F4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bg1"/>
            </a:solidFill>
            <a:ln w="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B805577E-C705-1831-51E7-29E36F69DF6E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B5E1F2F8-199C-0911-A0AE-DD09676B23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16B6E02-C5F8-3D48-C654-12F9424A8103}"/>
                  </a:ext>
                </a:extLst>
              </p:cNvPr>
              <p:cNvSpPr/>
              <p:nvPr/>
            </p:nvSpPr>
            <p:spPr>
              <a:xfrm>
                <a:off x="6267875" y="1428373"/>
                <a:ext cx="3586198" cy="550136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51435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EC8AA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项目背景</a:t>
                </a:r>
              </a:p>
            </p:txBody>
          </p:sp>
          <p:sp>
            <p:nvSpPr>
              <p:cNvPr id="105" name="标题占位符 27">
                <a:extLst>
                  <a:ext uri="{FF2B5EF4-FFF2-40B4-BE49-F238E27FC236}">
                    <a16:creationId xmlns:a16="http://schemas.microsoft.com/office/drawing/2014/main" id="{828144E0-5CCE-879D-BFCD-188A54CDA0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defPPr>
                  <a:defRPr lang="zh-CN"/>
                </a:defPPr>
                <a:lvl1pPr algn="ctr" defTabSz="685800">
                  <a:lnSpc>
                    <a:spcPct val="120000"/>
                  </a:lnSpc>
                  <a:spcBef>
                    <a:spcPct val="0"/>
                  </a:spcBef>
                  <a:buNone/>
                  <a:defRPr sz="4000">
                    <a:solidFill>
                      <a:schemeClr val="accent6"/>
                    </a:solidFill>
                    <a:latin typeface="+mj-lt"/>
                    <a:ea typeface="思源宋体 CN Heavy" panose="02020900000000000000" pitchFamily="18" charset="-122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01</a:t>
                </a:r>
              </a:p>
            </p:txBody>
          </p:sp>
        </p:grp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1ADA8B24-2937-8696-6870-D904A01AB91A}"/>
              </a:ext>
            </a:extLst>
          </p:cNvPr>
          <p:cNvGrpSpPr/>
          <p:nvPr/>
        </p:nvGrpSpPr>
        <p:grpSpPr>
          <a:xfrm>
            <a:off x="4794008" y="2131534"/>
            <a:ext cx="5384517" cy="747324"/>
            <a:chOff x="4874973" y="1293731"/>
            <a:chExt cx="5384517" cy="747324"/>
          </a:xfrm>
        </p:grpSpPr>
        <p:sp>
          <p:nvSpPr>
            <p:cNvPr id="119" name="PA-圆角矩形 5824">
              <a:extLst>
                <a:ext uri="{FF2B5EF4-FFF2-40B4-BE49-F238E27FC236}">
                  <a16:creationId xmlns:a16="http://schemas.microsoft.com/office/drawing/2014/main" id="{A7E32DA7-BEAA-4AE6-68A6-8E8CBDCF180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bg1"/>
            </a:solidFill>
            <a:ln w="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DFE9E81F-E57A-1E87-AE63-DD870D78D76D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121" name="直接连接符 120">
                <a:extLst>
                  <a:ext uri="{FF2B5EF4-FFF2-40B4-BE49-F238E27FC236}">
                    <a16:creationId xmlns:a16="http://schemas.microsoft.com/office/drawing/2014/main" id="{B553A9E6-A535-CEEB-EC74-32560C13A0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09D3A8AB-91AC-7E68-7391-17084EACAB9F}"/>
                  </a:ext>
                </a:extLst>
              </p:cNvPr>
              <p:cNvSpPr/>
              <p:nvPr/>
            </p:nvSpPr>
            <p:spPr>
              <a:xfrm>
                <a:off x="6267875" y="1453412"/>
                <a:ext cx="3586198" cy="500058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需求分析</a:t>
                </a:r>
              </a:p>
            </p:txBody>
          </p:sp>
          <p:sp>
            <p:nvSpPr>
              <p:cNvPr id="123" name="标题占位符 27">
                <a:extLst>
                  <a:ext uri="{FF2B5EF4-FFF2-40B4-BE49-F238E27FC236}">
                    <a16:creationId xmlns:a16="http://schemas.microsoft.com/office/drawing/2014/main" id="{9A89E124-39CE-8051-B48C-FE1449E1F8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defPPr>
                  <a:defRPr lang="zh-CN"/>
                </a:defPPr>
                <a:lvl1pPr algn="ctr" defTabSz="685800">
                  <a:lnSpc>
                    <a:spcPct val="120000"/>
                  </a:lnSpc>
                  <a:spcBef>
                    <a:spcPct val="0"/>
                  </a:spcBef>
                  <a:buNone/>
                  <a:defRPr sz="4000">
                    <a:solidFill>
                      <a:schemeClr val="accent6"/>
                    </a:solidFill>
                    <a:latin typeface="+mj-lt"/>
                    <a:ea typeface="思源宋体 CN Heavy" panose="02020900000000000000" pitchFamily="18" charset="-122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02</a:t>
                </a:r>
              </a:p>
            </p:txBody>
          </p:sp>
        </p:grp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7B333806-64D8-ED9F-BB00-E0BF8BF561B1}"/>
              </a:ext>
            </a:extLst>
          </p:cNvPr>
          <p:cNvGrpSpPr/>
          <p:nvPr/>
        </p:nvGrpSpPr>
        <p:grpSpPr>
          <a:xfrm>
            <a:off x="4794008" y="4377616"/>
            <a:ext cx="5384517" cy="747324"/>
            <a:chOff x="4874973" y="1293731"/>
            <a:chExt cx="5384517" cy="747324"/>
          </a:xfrm>
        </p:grpSpPr>
        <p:sp>
          <p:nvSpPr>
            <p:cNvPr id="125" name="PA-圆角矩形 5824">
              <a:extLst>
                <a:ext uri="{FF2B5EF4-FFF2-40B4-BE49-F238E27FC236}">
                  <a16:creationId xmlns:a16="http://schemas.microsoft.com/office/drawing/2014/main" id="{20E47A4D-E756-93C0-C132-8EB5A55AB2D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bg1"/>
            </a:solidFill>
            <a:ln w="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76DB19D7-2124-23F6-80E6-C8B6FFBB99EE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127" name="直接连接符 126">
                <a:extLst>
                  <a:ext uri="{FF2B5EF4-FFF2-40B4-BE49-F238E27FC236}">
                    <a16:creationId xmlns:a16="http://schemas.microsoft.com/office/drawing/2014/main" id="{11D3CA8E-E2FA-2643-74D7-2C00714C15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613346BE-CCDD-6006-5778-3C06D9263326}"/>
                  </a:ext>
                </a:extLst>
              </p:cNvPr>
              <p:cNvSpPr/>
              <p:nvPr/>
            </p:nvSpPr>
            <p:spPr>
              <a:xfrm>
                <a:off x="6267875" y="1453412"/>
                <a:ext cx="3586198" cy="500058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概要设计与技术验证</a:t>
                </a:r>
              </a:p>
            </p:txBody>
          </p:sp>
          <p:sp>
            <p:nvSpPr>
              <p:cNvPr id="129" name="标题占位符 27">
                <a:extLst>
                  <a:ext uri="{FF2B5EF4-FFF2-40B4-BE49-F238E27FC236}">
                    <a16:creationId xmlns:a16="http://schemas.microsoft.com/office/drawing/2014/main" id="{62931CAC-A05B-D81E-F902-79A5795CAF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defPPr>
                  <a:defRPr lang="zh-CN"/>
                </a:defPPr>
                <a:lvl1pPr algn="ctr" defTabSz="685800">
                  <a:lnSpc>
                    <a:spcPct val="120000"/>
                  </a:lnSpc>
                  <a:spcBef>
                    <a:spcPct val="0"/>
                  </a:spcBef>
                  <a:buNone/>
                  <a:defRPr sz="4000">
                    <a:solidFill>
                      <a:schemeClr val="accent6"/>
                    </a:solidFill>
                    <a:latin typeface="+mj-lt"/>
                    <a:ea typeface="思源宋体 CN Heavy" panose="02020900000000000000" pitchFamily="18" charset="-122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04</a:t>
                </a:r>
              </a:p>
            </p:txBody>
          </p:sp>
        </p:grp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6FDEEE9A-C266-3070-4C2E-D6D9C53306B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100120" y="-53789"/>
            <a:ext cx="4215566" cy="6911790"/>
          </a:xfrm>
          <a:prstGeom prst="rect">
            <a:avLst/>
          </a:prstGeom>
        </p:spPr>
      </p:pic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4F0462BA-015F-B416-6C4F-13BBF781D12D}"/>
              </a:ext>
            </a:extLst>
          </p:cNvPr>
          <p:cNvGrpSpPr/>
          <p:nvPr/>
        </p:nvGrpSpPr>
        <p:grpSpPr>
          <a:xfrm>
            <a:off x="1067601" y="1199713"/>
            <a:ext cx="1459979" cy="4593615"/>
            <a:chOff x="1206500" y="1564791"/>
            <a:chExt cx="1184995" cy="3728417"/>
          </a:xfrm>
        </p:grpSpPr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7FF0BD3B-759D-68B8-C098-6BBBD538D64A}"/>
                </a:ext>
              </a:extLst>
            </p:cNvPr>
            <p:cNvGrpSpPr/>
            <p:nvPr/>
          </p:nvGrpSpPr>
          <p:grpSpPr>
            <a:xfrm>
              <a:off x="1206500" y="1564791"/>
              <a:ext cx="1158307" cy="3728417"/>
              <a:chOff x="2369319" y="1489115"/>
              <a:chExt cx="1158307" cy="3728417"/>
            </a:xfrm>
          </p:grpSpPr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1EF26255-5D12-6714-F0F4-BE7646302EAA}"/>
                  </a:ext>
                </a:extLst>
              </p:cNvPr>
              <p:cNvSpPr txBox="1"/>
              <p:nvPr/>
            </p:nvSpPr>
            <p:spPr>
              <a:xfrm rot="5400000">
                <a:off x="1260788" y="3462670"/>
                <a:ext cx="2863393" cy="646331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600" b="0" i="0" u="none" strike="noStrike" kern="1200" cap="none" spc="0" normalizeH="0" baseline="0" noProof="0" dirty="0">
                    <a:ln>
                      <a:solidFill>
                        <a:prstClr val="white">
                          <a:alpha val="22000"/>
                        </a:prstClr>
                      </a:solidFill>
                    </a:ln>
                    <a:noFill/>
                    <a:effectLst/>
                    <a:uLnTx/>
                    <a:uFillTx/>
                    <a:latin typeface="DIN Black"/>
                    <a:ea typeface="微软雅黑" panose="020B0503020204020204" pitchFamily="34" charset="-122"/>
                    <a:cs typeface="阿里巴巴普惠体 Heavy" panose="00020600040101010101" pitchFamily="18" charset="-122"/>
                  </a:rPr>
                  <a:t>CONTENTS</a:t>
                </a:r>
              </a:p>
            </p:txBody>
          </p:sp>
          <p:sp>
            <p:nvSpPr>
              <p:cNvPr id="140" name="平行四边形 139">
                <a:extLst>
                  <a:ext uri="{FF2B5EF4-FFF2-40B4-BE49-F238E27FC236}">
                    <a16:creationId xmlns:a16="http://schemas.microsoft.com/office/drawing/2014/main" id="{F8337A2E-511B-561A-A29D-C3E39E6ED97F}"/>
                  </a:ext>
                </a:extLst>
              </p:cNvPr>
              <p:cNvSpPr/>
              <p:nvPr/>
            </p:nvSpPr>
            <p:spPr>
              <a:xfrm>
                <a:off x="2610429" y="1489115"/>
                <a:ext cx="917197" cy="1784366"/>
              </a:xfrm>
              <a:prstGeom prst="parallelogram">
                <a:avLst>
                  <a:gd name="adj" fmla="val 43802"/>
                </a:avLst>
              </a:prstGeom>
              <a:gradFill>
                <a:gsLst>
                  <a:gs pos="73000">
                    <a:schemeClr val="bg1">
                      <a:alpha val="0"/>
                    </a:schemeClr>
                  </a:gs>
                  <a:gs pos="0">
                    <a:schemeClr val="bg1">
                      <a:alpha val="2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1" name="平行四边形 140">
                <a:extLst>
                  <a:ext uri="{FF2B5EF4-FFF2-40B4-BE49-F238E27FC236}">
                    <a16:creationId xmlns:a16="http://schemas.microsoft.com/office/drawing/2014/main" id="{E84744D5-8045-5D6D-6C73-6D859343BA9C}"/>
                  </a:ext>
                </a:extLst>
              </p:cNvPr>
              <p:cNvSpPr/>
              <p:nvPr/>
            </p:nvSpPr>
            <p:spPr>
              <a:xfrm>
                <a:off x="2439546" y="1936465"/>
                <a:ext cx="584776" cy="1137656"/>
              </a:xfrm>
              <a:prstGeom prst="parallelogram">
                <a:avLst>
                  <a:gd name="adj" fmla="val 43802"/>
                </a:avLst>
              </a:prstGeom>
              <a:gradFill>
                <a:gsLst>
                  <a:gs pos="73000">
                    <a:schemeClr val="bg1">
                      <a:alpha val="0"/>
                    </a:schemeClr>
                  </a:gs>
                  <a:gs pos="0">
                    <a:schemeClr val="bg1">
                      <a:alpha val="2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142" name="直接连接符 141">
                <a:extLst>
                  <a:ext uri="{FF2B5EF4-FFF2-40B4-BE49-F238E27FC236}">
                    <a16:creationId xmlns:a16="http://schemas.microsoft.com/office/drawing/2014/main" id="{A7E2417B-D172-35EA-6A34-7C9F613ABE67}"/>
                  </a:ext>
                </a:extLst>
              </p:cNvPr>
              <p:cNvCxnSpPr/>
              <p:nvPr/>
            </p:nvCxnSpPr>
            <p:spPr>
              <a:xfrm>
                <a:off x="3069028" y="2981499"/>
                <a:ext cx="0" cy="2056789"/>
              </a:xfrm>
              <a:prstGeom prst="line">
                <a:avLst/>
              </a:prstGeom>
              <a:ln>
                <a:solidFill>
                  <a:schemeClr val="bg1">
                    <a:alpha val="17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F1632F69-81A1-2108-BBE1-FA1A6AAE0A4E}"/>
                </a:ext>
              </a:extLst>
            </p:cNvPr>
            <p:cNvSpPr txBox="1"/>
            <p:nvPr/>
          </p:nvSpPr>
          <p:spPr>
            <a:xfrm>
              <a:off x="1986274" y="1616018"/>
              <a:ext cx="405221" cy="3372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内容导览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994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7A2B0-EB13-D65C-EFFD-E5456BF47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550F6BB0-C8BD-7F53-07EC-C24CD2955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095" y="349971"/>
            <a:ext cx="10449144" cy="594600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69B9ED4-ECC0-4B8A-5376-6896A26505D3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B1349D-BC2E-F272-4095-4C04A52E676E}"/>
              </a:ext>
            </a:extLst>
          </p:cNvPr>
          <p:cNvSpPr/>
          <p:nvPr/>
        </p:nvSpPr>
        <p:spPr>
          <a:xfrm>
            <a:off x="0" y="6508029"/>
            <a:ext cx="12192000" cy="45792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93B3F0-C9B9-D65E-7137-0947B686742E}"/>
              </a:ext>
            </a:extLst>
          </p:cNvPr>
          <p:cNvSpPr txBox="1"/>
          <p:nvPr/>
        </p:nvSpPr>
        <p:spPr>
          <a:xfrm>
            <a:off x="119856" y="366377"/>
            <a:ext cx="738664" cy="394654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3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数据库</a:t>
            </a:r>
            <a:r>
              <a:rPr lang="zh-CN" altLang="en-US" sz="3600" b="1" dirty="0">
                <a:solidFill>
                  <a:srgbClr val="0B4FA1"/>
                </a:solidFill>
                <a:latin typeface="等线" panose="020F0502020204030204"/>
                <a:ea typeface="等线" panose="02010600030101010101" pitchFamily="2" charset="-122"/>
              </a:rPr>
              <a:t>设计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B4FA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B556B2-14FD-3A19-60CD-D8E7DA706B8E}"/>
              </a:ext>
            </a:extLst>
          </p:cNvPr>
          <p:cNvSpPr txBox="1"/>
          <p:nvPr/>
        </p:nvSpPr>
        <p:spPr>
          <a:xfrm>
            <a:off x="824411" y="3374660"/>
            <a:ext cx="738664" cy="305851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srgbClr val="A5A5A5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.1 </a:t>
            </a:r>
            <a:r>
              <a:rPr lang="en-US" altLang="zh-CN" sz="2400" b="1" dirty="0">
                <a:solidFill>
                  <a:srgbClr val="5B9BD5">
                    <a:lumMod val="75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E-R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图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9B72FA-1A6E-66A6-EF8E-A41F10694606}"/>
              </a:ext>
            </a:extLst>
          </p:cNvPr>
          <p:cNvSpPr/>
          <p:nvPr/>
        </p:nvSpPr>
        <p:spPr>
          <a:xfrm rot="5400000">
            <a:off x="-1257107" y="2886725"/>
            <a:ext cx="420875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FEEE8CA-E552-6698-FE19-8FE3CDF4E215}"/>
              </a:ext>
            </a:extLst>
          </p:cNvPr>
          <p:cNvSpPr/>
          <p:nvPr/>
        </p:nvSpPr>
        <p:spPr>
          <a:xfrm>
            <a:off x="1449484" y="366377"/>
            <a:ext cx="10622660" cy="6035625"/>
          </a:xfrm>
          <a:prstGeom prst="roundRect">
            <a:avLst>
              <a:gd name="adj" fmla="val 7008"/>
            </a:avLst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ea typeface="思源黑体 CN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630843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A3F22-F1A4-3699-3459-EEE8865ED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B43B21A-4D52-77F6-0FFC-B128BE5B0DB6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100AB4-A0E0-8DD5-9E46-F313DB8574D2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3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数据库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B4FA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设计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A4514D-A95B-9A35-FC11-56441A7EE2A3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3.2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表设计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3FD77E-4155-95DF-64AB-A025B037C3D8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69AE30-4A2B-B003-FBCB-252D57C31037}"/>
              </a:ext>
            </a:extLst>
          </p:cNvPr>
          <p:cNvSpPr/>
          <p:nvPr/>
        </p:nvSpPr>
        <p:spPr>
          <a:xfrm>
            <a:off x="0" y="6217918"/>
            <a:ext cx="12192000" cy="74803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70747D-EC4B-5DF9-F1CF-CEBD5A2E7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05" y="2196669"/>
            <a:ext cx="4625395" cy="24646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B9859F0-883E-49DF-85A0-5B5B0D7BC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700" y="2196668"/>
            <a:ext cx="4625395" cy="244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4495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0A528-B433-5BCF-8D5E-3026542C9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3A58AD7-C3CF-BD4B-A12B-B98030B34A5E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D0866C-C1AD-7BAB-CD52-3474AB47F0F4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3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数据库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B4FA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设计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1A9B3A-6665-94A9-FF64-E00A94F2E211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3.2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表设计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D01446-206F-8A97-96DC-082107D4273D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0AEDFB-17BD-7343-32B9-95A1945173C4}"/>
              </a:ext>
            </a:extLst>
          </p:cNvPr>
          <p:cNvSpPr/>
          <p:nvPr/>
        </p:nvSpPr>
        <p:spPr>
          <a:xfrm>
            <a:off x="0" y="6470442"/>
            <a:ext cx="12192000" cy="4955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1AF643-84C8-082F-729A-AEBECDF9F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64" y="2108528"/>
            <a:ext cx="5104285" cy="3911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75AF56-CE33-41CD-DF72-5E62B1909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096" y="710664"/>
            <a:ext cx="5122804" cy="530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5866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E64AB-035E-7AA6-4BB8-B329FD5BE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52F52FE-A9D6-5492-85D4-3F82DA9DE333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F7D4C8-C91E-1865-3384-3D714210BE80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3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数据库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B4FA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设计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2D7784E-5B46-C42B-C044-C4426459A4E0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3.3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视图设计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A8ECA8-97EE-0BE6-F2E5-CFFFFF70157D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7C9165-6B33-141E-F4ED-60F53FFC5A24}"/>
              </a:ext>
            </a:extLst>
          </p:cNvPr>
          <p:cNvSpPr/>
          <p:nvPr/>
        </p:nvSpPr>
        <p:spPr>
          <a:xfrm>
            <a:off x="0" y="6435140"/>
            <a:ext cx="12192000" cy="5308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6205D4-2340-8F2F-2E6F-F8771CD6DC92}"/>
              </a:ext>
            </a:extLst>
          </p:cNvPr>
          <p:cNvSpPr txBox="1"/>
          <p:nvPr/>
        </p:nvSpPr>
        <p:spPr>
          <a:xfrm>
            <a:off x="546100" y="2016233"/>
            <a:ext cx="3721100" cy="3101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3.3.1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员工每节课得分视图：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 err="1"/>
              <a:t>v_employee_item_score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功能说明：</a:t>
            </a:r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/>
              <a:t>按“员工 </a:t>
            </a:r>
            <a:r>
              <a:rPr lang="en-US" altLang="zh-CN" sz="1600" dirty="0"/>
              <a:t>× </a:t>
            </a:r>
            <a:r>
              <a:rPr lang="zh-CN" altLang="en-US" sz="1600" dirty="0"/>
              <a:t>课程安排”展示每一节课的详细信息和得分情况，用于：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员工个人查看每节课得分情况。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后续做课程、计划、员工维度的各类统计的基础视图。</a:t>
            </a:r>
            <a:endParaRPr lang="zh-CN" altLang="en-US" sz="16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CD2B434-A3D4-2CC0-8C0E-C497F62D9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642" y="880042"/>
            <a:ext cx="7147158" cy="533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65665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C3E1A-E157-E9C6-A6B7-2B346F3A2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5791610-EEDB-B0F6-15AD-7835D681CE51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70BB47-D0B8-2A33-03EC-69CC73C54650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3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数据库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B4FA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设计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60932F-9C5C-E434-3256-50DD523511F8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3.3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视图设计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1D1B26-92F6-5864-D5A5-56FEF49FCD81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D83090-C4BE-F6FC-6CE1-EDDF469A9888}"/>
              </a:ext>
            </a:extLst>
          </p:cNvPr>
          <p:cNvSpPr/>
          <p:nvPr/>
        </p:nvSpPr>
        <p:spPr>
          <a:xfrm>
            <a:off x="0" y="6301123"/>
            <a:ext cx="12192000" cy="6648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DC0B38-3156-25B2-B8E6-547B1415EFCA}"/>
              </a:ext>
            </a:extLst>
          </p:cNvPr>
          <p:cNvSpPr txBox="1"/>
          <p:nvPr/>
        </p:nvSpPr>
        <p:spPr>
          <a:xfrm>
            <a:off x="546100" y="2016233"/>
            <a:ext cx="3721100" cy="3471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3.3.2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员工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×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课程类型综合得分视图：</a:t>
            </a:r>
            <a:r>
              <a:rPr lang="en-US" altLang="zh-CN" b="1" dirty="0" err="1"/>
              <a:t>v_employee_course_score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功能说明：</a:t>
            </a:r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/>
              <a:t>按“员工 </a:t>
            </a:r>
            <a:r>
              <a:rPr lang="en-US" altLang="zh-CN" sz="1600" dirty="0"/>
              <a:t>+ </a:t>
            </a:r>
            <a:r>
              <a:rPr lang="zh-CN" altLang="en-US" sz="1600" dirty="0"/>
              <a:t>课程类型”维度，汇总该员工在该系列类型的课程下所有上课记录的平均加权得分，用于：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分析某员工在哪些课程上薄弱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后续做员工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×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课程类型的雷达图、热力图等可视化。</a:t>
            </a:r>
            <a:endParaRPr lang="zh-CN" alt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8A3304-554E-1E1D-6AF4-8A7F2360F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6" y="2570417"/>
            <a:ext cx="7458530" cy="171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3557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3A474-D135-5EF5-CD2B-281526F0A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BB0B041-0771-4116-838E-39152ABEB2A1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CB3164-03E6-A86C-9DD3-075356ABCC7E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3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数据库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B4FA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设计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862A37-55FD-807A-EE92-72E8AA7C075E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3.3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视图设计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CA58CE-78EE-9ADA-D9AD-1809676FF803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2F9D2B-395B-DB87-5CB1-904C216895D8}"/>
              </a:ext>
            </a:extLst>
          </p:cNvPr>
          <p:cNvSpPr/>
          <p:nvPr/>
        </p:nvSpPr>
        <p:spPr>
          <a:xfrm>
            <a:off x="0" y="6172201"/>
            <a:ext cx="12192000" cy="7937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64C9AA-F498-BFCF-F113-E5F6C2037A69}"/>
              </a:ext>
            </a:extLst>
          </p:cNvPr>
          <p:cNvSpPr txBox="1"/>
          <p:nvPr/>
        </p:nvSpPr>
        <p:spPr>
          <a:xfrm>
            <a:off x="546100" y="2016233"/>
            <a:ext cx="3721100" cy="3101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3.3.3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课程整体评分视图：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 err="1"/>
              <a:t>v_course_score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功能说明：</a:t>
            </a:r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/>
              <a:t>从“课程”维度汇总所有员工的表现，用于：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分析课程整体效果（平均得分）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看这门课参与人数，辅助判断课程难度、受欢迎程度等。</a:t>
            </a:r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D88571-E19A-91BB-3278-9776D7543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2231044"/>
            <a:ext cx="7766957" cy="211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99762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048E9-C8C1-D1B2-D1C4-A05C3F17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E41EB77-E425-3CE9-7754-9DD578B283BD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0AD75C-0A07-5122-D0BD-C3619F8D0A4D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3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数据库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B4FA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设计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103673F-D863-75B3-7D69-2E3159C44A7F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3.3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视图设计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DD01FD-6357-E952-FE4C-0F5707789A94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BF5E7D-C783-8407-D271-7B6C423B56B9}"/>
              </a:ext>
            </a:extLst>
          </p:cNvPr>
          <p:cNvSpPr/>
          <p:nvPr/>
        </p:nvSpPr>
        <p:spPr>
          <a:xfrm>
            <a:off x="0" y="6080760"/>
            <a:ext cx="12192000" cy="88519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E94C13-5421-7017-8FD8-E26668B36C0E}"/>
              </a:ext>
            </a:extLst>
          </p:cNvPr>
          <p:cNvSpPr txBox="1"/>
          <p:nvPr/>
        </p:nvSpPr>
        <p:spPr>
          <a:xfrm>
            <a:off x="546100" y="2016233"/>
            <a:ext cx="3721100" cy="2732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3.3.4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培训计划整体评分视图：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 err="1"/>
              <a:t>v_plan_score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功能说明：</a:t>
            </a:r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/>
              <a:t>从“培训计划”维度，综合该计划下所有课程、所有员工的表现，用于：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对每个培训计划做整体效果评估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做不同培训计划之间的对比分析。</a:t>
            </a:r>
            <a:endParaRPr lang="zh-CN" alt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EA2198-CFF6-BB10-C47F-E514706E4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764" y="2586725"/>
            <a:ext cx="7580471" cy="168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7196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F26C6-68F2-2FAB-8D22-64425EE5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1647EE9-4CF9-C7EC-27F6-BF47DB0CAA96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D85CD1-3A40-6E77-0A97-CF18FEED912A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3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数据库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B4FA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设计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94C890-0447-027B-849B-4633E6F81970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3.3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视图设计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7FF131-C9FD-8C4F-A8EE-7EE4B514E4F5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A2656A-D1E0-B492-A883-CAB817C6B149}"/>
              </a:ext>
            </a:extLst>
          </p:cNvPr>
          <p:cNvSpPr/>
          <p:nvPr/>
        </p:nvSpPr>
        <p:spPr>
          <a:xfrm>
            <a:off x="0" y="6301123"/>
            <a:ext cx="12192000" cy="6648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8D06DB-E55B-03CD-1CF4-59E6E3754632}"/>
              </a:ext>
            </a:extLst>
          </p:cNvPr>
          <p:cNvSpPr txBox="1"/>
          <p:nvPr/>
        </p:nvSpPr>
        <p:spPr>
          <a:xfrm>
            <a:off x="546100" y="2016233"/>
            <a:ext cx="3721100" cy="3471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3.3.5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员工课表视图：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 err="1"/>
              <a:t>v_employee_timetable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功能说明：</a:t>
            </a:r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/>
              <a:t>面向员工端，展示“员工个人课程表”，包括：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每节课的时间、地点、课程名称、课程要求等。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用于首页“今日课程”、“本周课程”的课表展示。</a:t>
            </a:r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355C66-F6A2-AAAA-CD43-FA034D5F7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249" y="2016233"/>
            <a:ext cx="7864751" cy="331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2356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308D-99EA-8DCA-F689-460B998E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3C9DF64-A570-91BB-310C-6C53E4A5BB51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CCBAF5-67B2-432A-7525-EE4C64C023E4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3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数据库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B4FA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设计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C537915-15C9-B9C2-674D-511846A30BDD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3.3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视图设计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25936C-7F25-C2A6-F07F-4180D46BDCE2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0515D6-8EFF-F83C-BC5D-1434D59A69A3}"/>
              </a:ext>
            </a:extLst>
          </p:cNvPr>
          <p:cNvSpPr/>
          <p:nvPr/>
        </p:nvSpPr>
        <p:spPr>
          <a:xfrm>
            <a:off x="0" y="6195060"/>
            <a:ext cx="12192000" cy="77089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932A6-1342-1BE9-E1C0-F826872AAA2A}"/>
              </a:ext>
            </a:extLst>
          </p:cNvPr>
          <p:cNvSpPr txBox="1"/>
          <p:nvPr/>
        </p:nvSpPr>
        <p:spPr>
          <a:xfrm>
            <a:off x="546100" y="2016233"/>
            <a:ext cx="3721100" cy="3471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3.3.5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讲师课表视图：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 err="1"/>
              <a:t>v_teacher_timetable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功能说明：</a:t>
            </a:r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/>
              <a:t>面向讲师端，展示“讲师个人课程表”，包括：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每节课的时间、地点、课程名称、课程要求等。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用于讲师查看自己每日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每周的授课安排。</a:t>
            </a:r>
            <a:endParaRPr lang="zh-CN" alt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33D512-48B6-60D3-5DEB-26C829530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637852"/>
            <a:ext cx="7830209" cy="379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514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C7C06-043F-FE46-148F-13B7BDFCF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9">
            <a:extLst>
              <a:ext uri="{FF2B5EF4-FFF2-40B4-BE49-F238E27FC236}">
                <a16:creationId xmlns:a16="http://schemas.microsoft.com/office/drawing/2014/main" id="{B4024515-0171-D17B-4821-2A9923E5053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15CB4B5-75B0-8524-369C-C3C3A50A771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67BAA039-5341-2E7E-7072-33F1CD186D37}"/>
              </a:ext>
            </a:extLst>
          </p:cNvPr>
          <p:cNvSpPr/>
          <p:nvPr/>
        </p:nvSpPr>
        <p:spPr>
          <a:xfrm flipH="1">
            <a:off x="2579592" y="190500"/>
            <a:ext cx="8422734" cy="6524625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bg1"/>
              </a:gs>
              <a:gs pos="99083">
                <a:schemeClr val="bg1"/>
              </a:gs>
            </a:gsLst>
            <a:lin ang="5400000" scaled="1"/>
            <a:tileRect/>
          </a:gradFill>
          <a:ln w="3175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100000"/>
                  </a:schemeClr>
                </a:gs>
              </a:gsLst>
              <a:lin ang="10800000" scaled="1"/>
              <a:tileRect/>
            </a:gradFill>
          </a:ln>
          <a:effectLst>
            <a:outerShdw blurRad="304800" sx="102000" sy="102000" algn="ctr" rotWithShape="0">
              <a:schemeClr val="accent6">
                <a:lumMod val="20000"/>
                <a:lumOff val="80000"/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cs typeface="+mn-cs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274B941-BB4D-18D8-A8D0-CF5B6EA2A644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6"/>
              </a:gs>
              <a:gs pos="100000">
                <a:schemeClr val="accent6">
                  <a:lumMod val="90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65100" dist="38100" dir="2700000" algn="tl" rotWithShape="0">
              <a:schemeClr val="bg1">
                <a:lumMod val="8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cs typeface="+mn-cs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57F0AF0C-3DB7-8351-1A5A-F42B38954F28}"/>
              </a:ext>
            </a:extLst>
          </p:cNvPr>
          <p:cNvGrpSpPr/>
          <p:nvPr/>
        </p:nvGrpSpPr>
        <p:grpSpPr>
          <a:xfrm>
            <a:off x="4794008" y="4429519"/>
            <a:ext cx="5384517" cy="747324"/>
            <a:chOff x="4874973" y="1293731"/>
            <a:chExt cx="5384517" cy="747324"/>
          </a:xfrm>
        </p:grpSpPr>
        <p:sp>
          <p:nvSpPr>
            <p:cNvPr id="68" name="PA-圆角矩形 5824">
              <a:extLst>
                <a:ext uri="{FF2B5EF4-FFF2-40B4-BE49-F238E27FC236}">
                  <a16:creationId xmlns:a16="http://schemas.microsoft.com/office/drawing/2014/main" id="{1E4E7DA5-70A4-CAEB-E701-4B0A8E5089C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accent6"/>
            </a:solidFill>
            <a:ln w="0">
              <a:solidFill>
                <a:schemeClr val="accent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A5FCC9F4-286F-F074-9898-9B12F55C400F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A02ACA35-5C33-6AA0-E2D4-1EEE3AD7C6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3D65BDD6-ECDF-CC21-1D3E-6856B2946385}"/>
                  </a:ext>
                </a:extLst>
              </p:cNvPr>
              <p:cNvSpPr/>
              <p:nvPr/>
            </p:nvSpPr>
            <p:spPr>
              <a:xfrm>
                <a:off x="6267875" y="1428373"/>
                <a:ext cx="3586198" cy="550136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51435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EC8AA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50800" dist="38100" dir="5400000" algn="t" rotWithShape="0">
                        <a:srgbClr val="0B4FA1">
                          <a:lumMod val="75000"/>
                          <a:alpha val="40000"/>
                        </a:srgbClr>
                      </a:outerShdw>
                    </a:effectLst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概要设计与技术验证</a:t>
                </a:r>
              </a:p>
            </p:txBody>
          </p:sp>
          <p:sp>
            <p:nvSpPr>
              <p:cNvPr id="90" name="标题占位符 27">
                <a:extLst>
                  <a:ext uri="{FF2B5EF4-FFF2-40B4-BE49-F238E27FC236}">
                    <a16:creationId xmlns:a16="http://schemas.microsoft.com/office/drawing/2014/main" id="{CAB454F4-341F-4A14-A0A7-779482B660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>
                    <a:solidFill>
                      <a:srgbClr val="D7000F"/>
                    </a:solidFill>
                    <a:latin typeface="+mj-ea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50800" dist="38100" dir="5400000" algn="t" rotWithShape="0">
                        <a:srgbClr val="0B4FA1">
                          <a:lumMod val="75000"/>
                          <a:alpha val="40000"/>
                        </a:srgbClr>
                      </a:outerShdw>
                    </a:effectLst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</a:t>
                </a:r>
                <a:r>
                  <a:rPr lang="en-US" altLang="zh-CN" sz="4000" dirty="0">
                    <a:solidFill>
                      <a:prstClr val="white"/>
                    </a:solidFill>
                    <a:effectLst>
                      <a:outerShdw blurRad="50800" dist="38100" dir="5400000" algn="t" rotWithShape="0">
                        <a:srgbClr val="0B4FA1">
                          <a:lumMod val="75000"/>
                          <a:alpha val="40000"/>
                        </a:srgbClr>
                      </a:outerShdw>
                    </a:effectLst>
                    <a:latin typeface="DIN Black"/>
                    <a:ea typeface="思源宋体 CN Heavy" panose="02020900000000000000" pitchFamily="18" charset="-122"/>
                  </a:rPr>
                  <a:t>4</a:t>
                </a:r>
                <a:endPara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srgbClr val="0B4FA1">
                        <a:lumMod val="75000"/>
                        <a:alpha val="40000"/>
                      </a:srgbClr>
                    </a:outerShdw>
                  </a:effectLst>
                  <a:uLnTx/>
                  <a:uFillTx/>
                  <a:latin typeface="DIN Black"/>
                  <a:ea typeface="思源宋体 CN Heavy" panose="02020900000000000000" pitchFamily="18" charset="-122"/>
                  <a:cs typeface="+mj-cs"/>
                </a:endParaRPr>
              </a:p>
            </p:txBody>
          </p:sp>
        </p:grp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E5F034A0-1B14-0901-DB7D-DEA7FDDB7392}"/>
              </a:ext>
            </a:extLst>
          </p:cNvPr>
          <p:cNvGrpSpPr/>
          <p:nvPr/>
        </p:nvGrpSpPr>
        <p:grpSpPr>
          <a:xfrm>
            <a:off x="4794008" y="967909"/>
            <a:ext cx="5384517" cy="747324"/>
            <a:chOff x="4874973" y="1293731"/>
            <a:chExt cx="5384517" cy="747324"/>
          </a:xfrm>
        </p:grpSpPr>
        <p:sp>
          <p:nvSpPr>
            <p:cNvPr id="101" name="PA-圆角矩形 5824">
              <a:extLst>
                <a:ext uri="{FF2B5EF4-FFF2-40B4-BE49-F238E27FC236}">
                  <a16:creationId xmlns:a16="http://schemas.microsoft.com/office/drawing/2014/main" id="{36169169-0425-D70D-8C56-6828F7063A3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bg1"/>
            </a:solidFill>
            <a:ln w="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6C4BC8A6-AC7B-3789-76FF-3504059237E6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FBD77269-CA76-DC84-375E-59E5BAF015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AA051EDE-B19D-DFC4-E539-D7E2188A08DC}"/>
                  </a:ext>
                </a:extLst>
              </p:cNvPr>
              <p:cNvSpPr/>
              <p:nvPr/>
            </p:nvSpPr>
            <p:spPr>
              <a:xfrm>
                <a:off x="6267875" y="1428373"/>
                <a:ext cx="3586198" cy="550136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51435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EC8AA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项目背景</a:t>
                </a:r>
              </a:p>
            </p:txBody>
          </p:sp>
          <p:sp>
            <p:nvSpPr>
              <p:cNvPr id="105" name="标题占位符 27">
                <a:extLst>
                  <a:ext uri="{FF2B5EF4-FFF2-40B4-BE49-F238E27FC236}">
                    <a16:creationId xmlns:a16="http://schemas.microsoft.com/office/drawing/2014/main" id="{4B16ADFE-A4DC-11F1-A267-8E75A04C62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defPPr>
                  <a:defRPr lang="zh-CN"/>
                </a:defPPr>
                <a:lvl1pPr algn="ctr" defTabSz="685800">
                  <a:lnSpc>
                    <a:spcPct val="120000"/>
                  </a:lnSpc>
                  <a:spcBef>
                    <a:spcPct val="0"/>
                  </a:spcBef>
                  <a:buNone/>
                  <a:defRPr sz="4000">
                    <a:solidFill>
                      <a:schemeClr val="accent6"/>
                    </a:solidFill>
                    <a:latin typeface="+mj-lt"/>
                    <a:ea typeface="思源宋体 CN Heavy" panose="02020900000000000000" pitchFamily="18" charset="-122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01</a:t>
                </a:r>
              </a:p>
            </p:txBody>
          </p:sp>
        </p:grp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9739DA7A-2255-9ECA-CCF1-5BA5205FE33B}"/>
              </a:ext>
            </a:extLst>
          </p:cNvPr>
          <p:cNvGrpSpPr/>
          <p:nvPr/>
        </p:nvGrpSpPr>
        <p:grpSpPr>
          <a:xfrm>
            <a:off x="4794008" y="2131534"/>
            <a:ext cx="5384517" cy="747324"/>
            <a:chOff x="4874973" y="1293731"/>
            <a:chExt cx="5384517" cy="747324"/>
          </a:xfrm>
        </p:grpSpPr>
        <p:sp>
          <p:nvSpPr>
            <p:cNvPr id="119" name="PA-圆角矩形 5824">
              <a:extLst>
                <a:ext uri="{FF2B5EF4-FFF2-40B4-BE49-F238E27FC236}">
                  <a16:creationId xmlns:a16="http://schemas.microsoft.com/office/drawing/2014/main" id="{3DC68EAC-D811-E885-A38F-51F42305BE8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bg1"/>
            </a:solidFill>
            <a:ln w="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4A4D0DDA-1AF3-FA12-3B9E-DC548BEBB2C8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121" name="直接连接符 120">
                <a:extLst>
                  <a:ext uri="{FF2B5EF4-FFF2-40B4-BE49-F238E27FC236}">
                    <a16:creationId xmlns:a16="http://schemas.microsoft.com/office/drawing/2014/main" id="{8F922399-2DF3-3DF1-BD3D-40D7B2D1E9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38130923-F353-41F7-4A27-1154970F6DEB}"/>
                  </a:ext>
                </a:extLst>
              </p:cNvPr>
              <p:cNvSpPr/>
              <p:nvPr/>
            </p:nvSpPr>
            <p:spPr>
              <a:xfrm>
                <a:off x="6267875" y="1453412"/>
                <a:ext cx="3586198" cy="500058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ea"/>
                  </a:rPr>
                  <a:t>需求分析</a:t>
                </a:r>
              </a:p>
            </p:txBody>
          </p:sp>
          <p:sp>
            <p:nvSpPr>
              <p:cNvPr id="123" name="标题占位符 27">
                <a:extLst>
                  <a:ext uri="{FF2B5EF4-FFF2-40B4-BE49-F238E27FC236}">
                    <a16:creationId xmlns:a16="http://schemas.microsoft.com/office/drawing/2014/main" id="{2C8D90F2-8941-20AE-A4EE-44C75D9F1A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defPPr>
                  <a:defRPr lang="zh-CN"/>
                </a:defPPr>
                <a:lvl1pPr algn="ctr" defTabSz="685800">
                  <a:lnSpc>
                    <a:spcPct val="120000"/>
                  </a:lnSpc>
                  <a:spcBef>
                    <a:spcPct val="0"/>
                  </a:spcBef>
                  <a:buNone/>
                  <a:defRPr sz="4000">
                    <a:solidFill>
                      <a:schemeClr val="accent6"/>
                    </a:solidFill>
                    <a:latin typeface="+mj-lt"/>
                    <a:ea typeface="思源宋体 CN Heavy" panose="02020900000000000000" pitchFamily="18" charset="-122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02</a:t>
                </a:r>
              </a:p>
            </p:txBody>
          </p:sp>
        </p:grp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A2498D4D-CA61-191E-217D-A1F6FFE8AFAB}"/>
              </a:ext>
            </a:extLst>
          </p:cNvPr>
          <p:cNvGrpSpPr/>
          <p:nvPr/>
        </p:nvGrpSpPr>
        <p:grpSpPr>
          <a:xfrm>
            <a:off x="4794008" y="3294507"/>
            <a:ext cx="5384517" cy="747324"/>
            <a:chOff x="4874973" y="1293731"/>
            <a:chExt cx="5384517" cy="747324"/>
          </a:xfrm>
        </p:grpSpPr>
        <p:sp>
          <p:nvSpPr>
            <p:cNvPr id="125" name="PA-圆角矩形 5824">
              <a:extLst>
                <a:ext uri="{FF2B5EF4-FFF2-40B4-BE49-F238E27FC236}">
                  <a16:creationId xmlns:a16="http://schemas.microsoft.com/office/drawing/2014/main" id="{8FAA892F-E95C-3143-E0D7-665FAF679A40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4874973" y="1350313"/>
              <a:ext cx="5384517" cy="690742"/>
            </a:xfrm>
            <a:prstGeom prst="roundRect">
              <a:avLst>
                <a:gd name="adj" fmla="val 4123"/>
              </a:avLst>
            </a:prstGeom>
            <a:solidFill>
              <a:schemeClr val="bg1"/>
            </a:solidFill>
            <a:ln w="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9EEB4080-5B4B-97CB-A122-BEB7871356CD}"/>
                </a:ext>
              </a:extLst>
            </p:cNvPr>
            <p:cNvGrpSpPr/>
            <p:nvPr/>
          </p:nvGrpSpPr>
          <p:grpSpPr>
            <a:xfrm>
              <a:off x="5124372" y="1293731"/>
              <a:ext cx="4885719" cy="746522"/>
              <a:chOff x="5220820" y="1308122"/>
              <a:chExt cx="4633253" cy="746522"/>
            </a:xfrm>
          </p:grpSpPr>
          <p:cxnSp>
            <p:nvCxnSpPr>
              <p:cNvPr id="127" name="直接连接符 126">
                <a:extLst>
                  <a:ext uri="{FF2B5EF4-FFF2-40B4-BE49-F238E27FC236}">
                    <a16:creationId xmlns:a16="http://schemas.microsoft.com/office/drawing/2014/main" id="{74D2C698-9964-563E-3CDE-9373236B5D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577" y="1462265"/>
                <a:ext cx="0" cy="482352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4281272D-1B3D-711C-AC27-3E6E3EC73871}"/>
                  </a:ext>
                </a:extLst>
              </p:cNvPr>
              <p:cNvSpPr/>
              <p:nvPr/>
            </p:nvSpPr>
            <p:spPr>
              <a:xfrm>
                <a:off x="6267875" y="1453412"/>
                <a:ext cx="3586198" cy="500058"/>
              </a:xfrm>
              <a:prstGeom prst="rect">
                <a:avLst/>
              </a:prstGeom>
            </p:spPr>
            <p:txBody>
              <a:bodyPr wrap="square" lIns="68499" tIns="34251" rIns="68499" bIns="34251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endParaRPr>
              </a:p>
            </p:txBody>
          </p:sp>
          <p:sp>
            <p:nvSpPr>
              <p:cNvPr id="129" name="标题占位符 27">
                <a:extLst>
                  <a:ext uri="{FF2B5EF4-FFF2-40B4-BE49-F238E27FC236}">
                    <a16:creationId xmlns:a16="http://schemas.microsoft.com/office/drawing/2014/main" id="{B0D7CDFB-00FF-44E7-88F8-5E05E3AE3C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0820" y="1308122"/>
                <a:ext cx="872036" cy="746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lnSpcReduction="10000"/>
              </a:bodyPr>
              <a:lstStyle>
                <a:defPPr>
                  <a:defRPr lang="zh-CN"/>
                </a:defPPr>
                <a:lvl1pPr algn="ctr" defTabSz="685800">
                  <a:lnSpc>
                    <a:spcPct val="120000"/>
                  </a:lnSpc>
                  <a:spcBef>
                    <a:spcPct val="0"/>
                  </a:spcBef>
                  <a:buNone/>
                  <a:defRPr sz="4000">
                    <a:solidFill>
                      <a:schemeClr val="accent6"/>
                    </a:solidFill>
                    <a:latin typeface="+mj-lt"/>
                    <a:ea typeface="思源宋体 CN Heavy" panose="02020900000000000000" pitchFamily="18" charset="-122"/>
                    <a:cs typeface="+mj-cs"/>
                  </a:defRPr>
                </a:lvl1pPr>
              </a:lstStyle>
              <a:p>
                <a:pPr marL="0" marR="0" lvl="0" indent="0" algn="ctr" defTabSz="6858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DIN Black"/>
                    <a:ea typeface="思源宋体 CN Heavy" panose="02020900000000000000" pitchFamily="18" charset="-122"/>
                    <a:cs typeface="+mj-cs"/>
                  </a:rPr>
                  <a:t>03</a:t>
                </a:r>
              </a:p>
            </p:txBody>
          </p:sp>
        </p:grp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83DC7121-175D-BB73-1EEE-E92369738E9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100120" y="-53789"/>
            <a:ext cx="4215566" cy="6911790"/>
          </a:xfrm>
          <a:prstGeom prst="rect">
            <a:avLst/>
          </a:prstGeom>
        </p:spPr>
      </p:pic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758D7E27-BA9E-CDF7-921E-8805DDE962B9}"/>
              </a:ext>
            </a:extLst>
          </p:cNvPr>
          <p:cNvGrpSpPr/>
          <p:nvPr/>
        </p:nvGrpSpPr>
        <p:grpSpPr>
          <a:xfrm>
            <a:off x="1067601" y="1199713"/>
            <a:ext cx="1459979" cy="4593615"/>
            <a:chOff x="1206500" y="1564791"/>
            <a:chExt cx="1184995" cy="3728417"/>
          </a:xfrm>
        </p:grpSpPr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AD637516-8C82-3CD8-8016-AB4ECBD46CD6}"/>
                </a:ext>
              </a:extLst>
            </p:cNvPr>
            <p:cNvGrpSpPr/>
            <p:nvPr/>
          </p:nvGrpSpPr>
          <p:grpSpPr>
            <a:xfrm>
              <a:off x="1206500" y="1564791"/>
              <a:ext cx="1158307" cy="3728417"/>
              <a:chOff x="2369319" y="1489115"/>
              <a:chExt cx="1158307" cy="3728417"/>
            </a:xfrm>
          </p:grpSpPr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702AA88C-3AAA-1884-F5F8-6DFA3A43323A}"/>
                  </a:ext>
                </a:extLst>
              </p:cNvPr>
              <p:cNvSpPr txBox="1"/>
              <p:nvPr/>
            </p:nvSpPr>
            <p:spPr>
              <a:xfrm rot="5400000">
                <a:off x="1260788" y="3462670"/>
                <a:ext cx="2863393" cy="646331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600" b="0" i="0" u="none" strike="noStrike" kern="1200" cap="none" spc="0" normalizeH="0" baseline="0" noProof="0" dirty="0">
                    <a:ln>
                      <a:solidFill>
                        <a:prstClr val="white">
                          <a:alpha val="22000"/>
                        </a:prstClr>
                      </a:solidFill>
                    </a:ln>
                    <a:noFill/>
                    <a:effectLst/>
                    <a:uLnTx/>
                    <a:uFillTx/>
                    <a:latin typeface="DIN Black"/>
                    <a:ea typeface="微软雅黑" panose="020B0503020204020204" pitchFamily="34" charset="-122"/>
                    <a:cs typeface="阿里巴巴普惠体 Heavy" panose="00020600040101010101" pitchFamily="18" charset="-122"/>
                  </a:rPr>
                  <a:t>CONTENTS</a:t>
                </a:r>
              </a:p>
            </p:txBody>
          </p:sp>
          <p:sp>
            <p:nvSpPr>
              <p:cNvPr id="140" name="平行四边形 139">
                <a:extLst>
                  <a:ext uri="{FF2B5EF4-FFF2-40B4-BE49-F238E27FC236}">
                    <a16:creationId xmlns:a16="http://schemas.microsoft.com/office/drawing/2014/main" id="{4B36EA1E-6B1E-56B0-4774-DE076778F926}"/>
                  </a:ext>
                </a:extLst>
              </p:cNvPr>
              <p:cNvSpPr/>
              <p:nvPr/>
            </p:nvSpPr>
            <p:spPr>
              <a:xfrm>
                <a:off x="2610429" y="1489115"/>
                <a:ext cx="917197" cy="1784366"/>
              </a:xfrm>
              <a:prstGeom prst="parallelogram">
                <a:avLst>
                  <a:gd name="adj" fmla="val 43802"/>
                </a:avLst>
              </a:prstGeom>
              <a:gradFill>
                <a:gsLst>
                  <a:gs pos="73000">
                    <a:schemeClr val="bg1">
                      <a:alpha val="0"/>
                    </a:schemeClr>
                  </a:gs>
                  <a:gs pos="0">
                    <a:schemeClr val="bg1">
                      <a:alpha val="2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1" name="平行四边形 140">
                <a:extLst>
                  <a:ext uri="{FF2B5EF4-FFF2-40B4-BE49-F238E27FC236}">
                    <a16:creationId xmlns:a16="http://schemas.microsoft.com/office/drawing/2014/main" id="{B7D9D77C-DB60-B541-9BBC-E638F9B43BD4}"/>
                  </a:ext>
                </a:extLst>
              </p:cNvPr>
              <p:cNvSpPr/>
              <p:nvPr/>
            </p:nvSpPr>
            <p:spPr>
              <a:xfrm>
                <a:off x="2439546" y="1936465"/>
                <a:ext cx="584776" cy="1137656"/>
              </a:xfrm>
              <a:prstGeom prst="parallelogram">
                <a:avLst>
                  <a:gd name="adj" fmla="val 43802"/>
                </a:avLst>
              </a:prstGeom>
              <a:gradFill>
                <a:gsLst>
                  <a:gs pos="73000">
                    <a:schemeClr val="bg1">
                      <a:alpha val="0"/>
                    </a:schemeClr>
                  </a:gs>
                  <a:gs pos="0">
                    <a:schemeClr val="bg1">
                      <a:alpha val="2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142" name="直接连接符 141">
                <a:extLst>
                  <a:ext uri="{FF2B5EF4-FFF2-40B4-BE49-F238E27FC236}">
                    <a16:creationId xmlns:a16="http://schemas.microsoft.com/office/drawing/2014/main" id="{91D35468-73D5-8D97-CD0D-53E1F57EC8D6}"/>
                  </a:ext>
                </a:extLst>
              </p:cNvPr>
              <p:cNvCxnSpPr/>
              <p:nvPr/>
            </p:nvCxnSpPr>
            <p:spPr>
              <a:xfrm>
                <a:off x="3069028" y="2981499"/>
                <a:ext cx="0" cy="2056789"/>
              </a:xfrm>
              <a:prstGeom prst="line">
                <a:avLst/>
              </a:prstGeom>
              <a:ln>
                <a:solidFill>
                  <a:schemeClr val="bg1">
                    <a:alpha val="17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CA7C1B23-C070-5953-0962-4335058D083E}"/>
                </a:ext>
              </a:extLst>
            </p:cNvPr>
            <p:cNvSpPr txBox="1"/>
            <p:nvPr/>
          </p:nvSpPr>
          <p:spPr>
            <a:xfrm>
              <a:off x="1986274" y="1616018"/>
              <a:ext cx="405221" cy="3372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内容导览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EDEB98DA-DB99-1A4B-6F5D-55F51B414BC0}"/>
              </a:ext>
            </a:extLst>
          </p:cNvPr>
          <p:cNvSpPr/>
          <p:nvPr/>
        </p:nvSpPr>
        <p:spPr>
          <a:xfrm>
            <a:off x="6147516" y="3448650"/>
            <a:ext cx="3781610" cy="500058"/>
          </a:xfrm>
          <a:prstGeom prst="rect">
            <a:avLst/>
          </a:prstGeom>
        </p:spPr>
        <p:txBody>
          <a:bodyPr wrap="square" lIns="68499" tIns="34251" rIns="68499" bIns="34251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rPr>
              <a:t>数据库设计</a:t>
            </a:r>
          </a:p>
        </p:txBody>
      </p:sp>
    </p:spTree>
    <p:extLst>
      <p:ext uri="{BB962C8B-B14F-4D97-AF65-F5344CB8AC3E}">
        <p14:creationId xmlns:p14="http://schemas.microsoft.com/office/powerpoint/2010/main" val="223744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37BB-2022-C09A-4BAE-4F1C3A95A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865E85E-E12D-BC15-0170-C96F0DFACB40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FC5BD9-B9A6-F08A-BAFC-68627F255305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4 </a:t>
            </a:r>
            <a:r>
              <a:rPr lang="zh-CN" altLang="en-US" sz="3600" b="1" dirty="0">
                <a:solidFill>
                  <a:srgbClr val="4472C4">
                    <a:lumMod val="60000"/>
                    <a:lumOff val="40000"/>
                  </a:srgbClr>
                </a:solidFill>
              </a:rPr>
              <a:t>概要</a:t>
            </a:r>
            <a:r>
              <a:rPr lang="zh-CN" altLang="en-US" sz="3600" b="1" dirty="0">
                <a:solidFill>
                  <a:srgbClr val="0B4FA1"/>
                </a:solidFill>
              </a:rPr>
              <a:t>设计与技术验证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B4FA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D3A1DB-6AE5-4BA8-9AB7-56767FA9571C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4.1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技术路线确立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653258-1B3B-EF3A-FBAD-6DEDA04AE7F8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090242-CA73-F0F8-A9B4-DE58067396FD}"/>
              </a:ext>
            </a:extLst>
          </p:cNvPr>
          <p:cNvSpPr/>
          <p:nvPr/>
        </p:nvSpPr>
        <p:spPr>
          <a:xfrm>
            <a:off x="0" y="6092190"/>
            <a:ext cx="12192000" cy="873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48BF4E-2DD2-F72E-8F38-29E787FC62D7}"/>
              </a:ext>
            </a:extLst>
          </p:cNvPr>
          <p:cNvSpPr txBox="1"/>
          <p:nvPr/>
        </p:nvSpPr>
        <p:spPr>
          <a:xfrm>
            <a:off x="546100" y="2016233"/>
            <a:ext cx="3721100" cy="2640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前端：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前端框架：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Vue3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组件库：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Element Plus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状态存储管理：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Pinia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rgbClr val="4472C4">
                    <a:lumMod val="50000"/>
                  </a:srgbClr>
                </a:solidFill>
              </a:rPr>
              <a:t>后端：</a:t>
            </a:r>
            <a:endParaRPr lang="en-US" altLang="zh-CN" sz="1600" b="1" dirty="0">
              <a:solidFill>
                <a:srgbClr val="4472C4">
                  <a:lumMod val="50000"/>
                </a:srgbClr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</a:rPr>
              <a:t>后端框架：</a:t>
            </a: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</a:rPr>
              <a:t>Gin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</a:rPr>
              <a:t>测试工具：</a:t>
            </a: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</a:rPr>
              <a:t>Postman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AA77A4-60FB-BA66-1188-A990D097A015}"/>
              </a:ext>
            </a:extLst>
          </p:cNvPr>
          <p:cNvSpPr txBox="1"/>
          <p:nvPr/>
        </p:nvSpPr>
        <p:spPr>
          <a:xfrm>
            <a:off x="5600700" y="2016233"/>
            <a:ext cx="6172200" cy="3009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rgbClr val="4472C4">
                    <a:lumMod val="50000"/>
                  </a:srgbClr>
                </a:solidFill>
              </a:rPr>
              <a:t>数据库：</a:t>
            </a:r>
            <a:endParaRPr lang="en-US" altLang="zh-CN" sz="1600" b="1" dirty="0">
              <a:solidFill>
                <a:srgbClr val="4472C4">
                  <a:lumMod val="50000"/>
                </a:srgbClr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</a:rPr>
              <a:t>数据库管理系统：</a:t>
            </a: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</a:rPr>
              <a:t>MySQL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</a:rPr>
              <a:t>数据库部署：</a:t>
            </a: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</a:rPr>
              <a:t>Docker</a:t>
            </a:r>
          </a:p>
          <a:p>
            <a:pPr lvl="0">
              <a:lnSpc>
                <a:spcPct val="150000"/>
              </a:lnSpc>
              <a:defRPr/>
            </a:pPr>
            <a:endParaRPr lang="en-US" altLang="zh-CN" sz="1600" dirty="0">
              <a:solidFill>
                <a:srgbClr val="4472C4">
                  <a:lumMod val="50000"/>
                </a:srgbClr>
              </a:solidFill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rgbClr val="4472C4">
                    <a:lumMod val="50000"/>
                  </a:srgbClr>
                </a:solidFill>
              </a:rPr>
              <a:t>部署工具：</a:t>
            </a:r>
            <a:endParaRPr lang="en-US" altLang="zh-CN" sz="1600" b="1" dirty="0">
              <a:solidFill>
                <a:srgbClr val="4472C4">
                  <a:lumMod val="50000"/>
                </a:srgbClr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</a:rPr>
              <a:t>内网穿透工具：</a:t>
            </a:r>
            <a:r>
              <a:rPr lang="en-US" altLang="zh-CN" sz="1600" dirty="0" err="1">
                <a:solidFill>
                  <a:srgbClr val="4472C4">
                    <a:lumMod val="50000"/>
                  </a:srgbClr>
                </a:solidFill>
              </a:rPr>
              <a:t>frp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</a:rPr>
              <a:t>服务器面板：</a:t>
            </a: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</a:rPr>
              <a:t>1Panel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</a:rPr>
              <a:t>域名反向代理与证书自动续签：</a:t>
            </a: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</a:rPr>
              <a:t>Cloudflare </a:t>
            </a: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</a:rPr>
              <a:t>与 </a:t>
            </a:r>
            <a:r>
              <a:rPr lang="en-US" altLang="zh-CN" sz="1600" dirty="0" err="1">
                <a:solidFill>
                  <a:srgbClr val="4472C4">
                    <a:lumMod val="50000"/>
                  </a:srgbClr>
                </a:solidFill>
              </a:rPr>
              <a:t>Openresty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826213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FE247-433E-CA25-B805-DF08B9880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A97E6AA-D1B2-06C0-DDC3-A2B24ED16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838" y="1664066"/>
            <a:ext cx="8137495" cy="487179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C1CE576-E8DB-8AAB-D4AE-1515FE125475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4E5051-CBBA-840D-3A93-1B12F46161E6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4 </a:t>
            </a:r>
            <a:r>
              <a:rPr lang="zh-CN" altLang="en-US" sz="3600" b="1" dirty="0">
                <a:solidFill>
                  <a:srgbClr val="4472C4">
                    <a:lumMod val="60000"/>
                    <a:lumOff val="40000"/>
                  </a:srgbClr>
                </a:solidFill>
              </a:rPr>
              <a:t>概要</a:t>
            </a:r>
            <a:r>
              <a:rPr lang="zh-CN" altLang="en-US" sz="3600" b="1" dirty="0">
                <a:solidFill>
                  <a:srgbClr val="0B4FA1"/>
                </a:solidFill>
              </a:rPr>
              <a:t>设计与技术验证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B4FA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F59D34-427C-CD30-3311-F40687385232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4.2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系统网络拓扑图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2A2738-F3DA-93A1-6E72-D9D684076F69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0B7E67-50D7-E561-96CB-555863D736DF}"/>
              </a:ext>
            </a:extLst>
          </p:cNvPr>
          <p:cNvSpPr/>
          <p:nvPr/>
        </p:nvSpPr>
        <p:spPr>
          <a:xfrm>
            <a:off x="0" y="6526529"/>
            <a:ext cx="12192000" cy="43942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7931254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6E373-245B-177F-F074-A0765B5A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BA4496-A78E-605D-974E-D8FB63535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08" y="1600364"/>
            <a:ext cx="11503983" cy="489833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8B115BA-D10D-A63B-20D5-312FCFEE810D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0A3E9C-49D9-C415-55B6-D6BF60B7CAD7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4 </a:t>
            </a:r>
            <a:r>
              <a:rPr lang="zh-CN" altLang="en-US" sz="3600" b="1" dirty="0">
                <a:solidFill>
                  <a:srgbClr val="4472C4">
                    <a:lumMod val="60000"/>
                    <a:lumOff val="40000"/>
                  </a:srgbClr>
                </a:solidFill>
              </a:rPr>
              <a:t>概要</a:t>
            </a:r>
            <a:r>
              <a:rPr lang="zh-CN" altLang="en-US" sz="3600" b="1" dirty="0">
                <a:solidFill>
                  <a:srgbClr val="0B4FA1"/>
                </a:solidFill>
              </a:rPr>
              <a:t>设计与技术验证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B4FA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EE42BE-EE39-48F3-80C2-C3B2094D6BD9}"/>
              </a:ext>
            </a:extLst>
          </p:cNvPr>
          <p:cNvSpPr txBox="1"/>
          <p:nvPr/>
        </p:nvSpPr>
        <p:spPr>
          <a:xfrm>
            <a:off x="500380" y="1266834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4.3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系统模块设计图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5B4524-DC44-AA05-A001-43EF291A002C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69D6D8-C5F8-3B08-6721-78928A97EF9E}"/>
              </a:ext>
            </a:extLst>
          </p:cNvPr>
          <p:cNvSpPr/>
          <p:nvPr/>
        </p:nvSpPr>
        <p:spPr>
          <a:xfrm>
            <a:off x="0" y="6475843"/>
            <a:ext cx="12192000" cy="49010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2645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4C49C-92C8-BE7D-251F-5EB831A6A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E8A5E4F-E283-ADCD-6EB6-941EE43F2764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BEE793-FC62-8A3A-9F5B-2E5722E48E3D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4 </a:t>
            </a:r>
            <a:r>
              <a:rPr lang="zh-CN" altLang="en-US" sz="3600" b="1" dirty="0">
                <a:solidFill>
                  <a:srgbClr val="4472C4">
                    <a:lumMod val="60000"/>
                    <a:lumOff val="40000"/>
                  </a:srgbClr>
                </a:solidFill>
              </a:rPr>
              <a:t>概要</a:t>
            </a:r>
            <a:r>
              <a:rPr lang="zh-CN" altLang="en-US" sz="3600" b="1" dirty="0">
                <a:solidFill>
                  <a:srgbClr val="0B4FA1"/>
                </a:solidFill>
              </a:rPr>
              <a:t>设计与技术验证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B4FA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B0546A5-3D23-4B31-392F-0D0DBD7BDC2B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4.4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页面设计原型图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D5DBB4-CFA2-36FD-A00E-5746A36E994A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47EA36-5A34-A455-27FB-5F237C218E05}"/>
              </a:ext>
            </a:extLst>
          </p:cNvPr>
          <p:cNvSpPr/>
          <p:nvPr/>
        </p:nvSpPr>
        <p:spPr>
          <a:xfrm>
            <a:off x="0" y="6375917"/>
            <a:ext cx="12192000" cy="5900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7E39A29-5928-700F-EA02-4E72CBA44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20" y="2108528"/>
            <a:ext cx="3433689" cy="380746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D4469D8-F5F9-0B0A-410B-D83FB7B07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720" y="2108528"/>
            <a:ext cx="3724070" cy="210931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76566D5-9A87-A5DB-9E04-A2FC3A501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2091" y="2016233"/>
            <a:ext cx="3166005" cy="389975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481D1F7-DD14-6046-A761-DBD03552A3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3720" y="4044181"/>
            <a:ext cx="3679408" cy="208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02261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BB5EF-2A15-04C0-7050-A9C7E9C60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1606315-26C4-8E62-8D55-07AD5D3EEC2C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6B938D-1D86-45B8-1CB5-F07FDF098026}"/>
              </a:ext>
            </a:extLst>
          </p:cNvPr>
          <p:cNvSpPr txBox="1"/>
          <p:nvPr/>
        </p:nvSpPr>
        <p:spPr>
          <a:xfrm>
            <a:off x="114300" y="556877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4 </a:t>
            </a:r>
            <a:r>
              <a:rPr lang="zh-CN" altLang="en-US" sz="3600" b="1" dirty="0">
                <a:solidFill>
                  <a:srgbClr val="4472C4">
                    <a:lumMod val="60000"/>
                    <a:lumOff val="40000"/>
                  </a:srgbClr>
                </a:solidFill>
              </a:rPr>
              <a:t>概要</a:t>
            </a:r>
            <a:r>
              <a:rPr lang="zh-CN" altLang="en-US" sz="3600" b="1" dirty="0">
                <a:solidFill>
                  <a:srgbClr val="0B4FA1"/>
                </a:solidFill>
              </a:rPr>
              <a:t>设计与技术验证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B4FA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829C45-4856-8402-42C6-5DA1516BF9DF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4.5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关键技术验证</a:t>
            </a:r>
            <a:r>
              <a:rPr lang="en-US" altLang="zh-CN" sz="2400" b="1" dirty="0">
                <a:solidFill>
                  <a:srgbClr val="5B9BD5">
                    <a:lumMod val="75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rgbClr val="5B9BD5">
                    <a:lumMod val="75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前端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483504-102D-F3AC-05DE-9270B4C65A3A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C3CE3A-5196-8FDA-6923-3E8196701B97}"/>
              </a:ext>
            </a:extLst>
          </p:cNvPr>
          <p:cNvSpPr/>
          <p:nvPr/>
        </p:nvSpPr>
        <p:spPr>
          <a:xfrm>
            <a:off x="0" y="6705600"/>
            <a:ext cx="12192000" cy="2603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65BC6D-DB1A-DC6C-D0A7-A3FDCAA5A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866" y="345202"/>
            <a:ext cx="6111706" cy="627554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699D079-FF38-CC83-5457-9F89D4688E6B}"/>
              </a:ext>
            </a:extLst>
          </p:cNvPr>
          <p:cNvSpPr txBox="1"/>
          <p:nvPr/>
        </p:nvSpPr>
        <p:spPr>
          <a:xfrm>
            <a:off x="546100" y="2016233"/>
            <a:ext cx="4737100" cy="2270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前端：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Vue3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框架易学易用，性能出色，且对于它的使用我已经很熟悉，之前写过很多网站，界面美观，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也验证了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Element Plus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组件库、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Pinia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Router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等生态的可行性，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下面是之前做过的一些网站的部分界面：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32956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B8923-DE8B-680C-94B8-60DD9D73F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826FD747-295A-E104-BDB3-2ECB25549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540" y="315179"/>
            <a:ext cx="2043185" cy="181616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0AD92AA-8E28-D953-1108-97497C200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686" y="334719"/>
            <a:ext cx="3236686" cy="1861315"/>
          </a:xfrm>
          <a:prstGeom prst="rect">
            <a:avLst/>
          </a:prstGeom>
        </p:spPr>
      </p:pic>
      <p:pic>
        <p:nvPicPr>
          <p:cNvPr id="1025" name="Picture 1">
            <a:extLst>
              <a:ext uri="{FF2B5EF4-FFF2-40B4-BE49-F238E27FC236}">
                <a16:creationId xmlns:a16="http://schemas.microsoft.com/office/drawing/2014/main" id="{12C46D30-808E-10D8-45F5-4DAC097A5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540" y="4888369"/>
            <a:ext cx="5564727" cy="363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D64763C-2A5C-5D71-73BB-A1D08FF2046A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753996-D131-B87C-355A-D6409B014D02}"/>
              </a:ext>
            </a:extLst>
          </p:cNvPr>
          <p:cNvSpPr txBox="1"/>
          <p:nvPr/>
        </p:nvSpPr>
        <p:spPr>
          <a:xfrm>
            <a:off x="114300" y="556877"/>
            <a:ext cx="5314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4 </a:t>
            </a:r>
            <a:r>
              <a:rPr lang="zh-CN" altLang="en-US" sz="3600" b="1" dirty="0">
                <a:solidFill>
                  <a:srgbClr val="4472C4">
                    <a:lumMod val="60000"/>
                    <a:lumOff val="40000"/>
                  </a:srgbClr>
                </a:solidFill>
              </a:rPr>
              <a:t>概要</a:t>
            </a:r>
            <a:r>
              <a:rPr lang="zh-CN" altLang="en-US" sz="3600" b="1" dirty="0">
                <a:solidFill>
                  <a:srgbClr val="0B4FA1"/>
                </a:solidFill>
              </a:rPr>
              <a:t>设计与技术验证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B4FA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50706C-61E1-A630-B70A-9CF7F9529CFE}"/>
              </a:ext>
            </a:extLst>
          </p:cNvPr>
          <p:cNvSpPr txBox="1"/>
          <p:nvPr/>
        </p:nvSpPr>
        <p:spPr>
          <a:xfrm>
            <a:off x="546100" y="1426200"/>
            <a:ext cx="1100727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4.5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关键技术验证</a:t>
            </a:r>
            <a:r>
              <a:rPr lang="en-US" altLang="zh-CN" sz="2400" b="1" dirty="0">
                <a:solidFill>
                  <a:srgbClr val="5B9BD5">
                    <a:lumMod val="75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rgbClr val="5B9BD5">
                    <a:lumMod val="75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后端与数据库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893211-6CE7-689D-ED28-463C0503CF3A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E32094-1499-7D05-8710-CCC4356A65D2}"/>
              </a:ext>
            </a:extLst>
          </p:cNvPr>
          <p:cNvSpPr/>
          <p:nvPr/>
        </p:nvSpPr>
        <p:spPr>
          <a:xfrm>
            <a:off x="0" y="6375917"/>
            <a:ext cx="12192000" cy="5900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C1CDBF-08A2-FAFC-A1F1-3CC5B9C2FFFC}"/>
              </a:ext>
            </a:extLst>
          </p:cNvPr>
          <p:cNvSpPr txBox="1"/>
          <p:nvPr/>
        </p:nvSpPr>
        <p:spPr>
          <a:xfrm>
            <a:off x="546100" y="2016233"/>
            <a:ext cx="4737100" cy="3378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后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端：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Gin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框架作为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Go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语言生态非常成熟的后端框架，支持高并发，性能优秀，之前我也用于写过两个网站的后端，技术可行。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4472C4">
                    <a:lumMod val="50000"/>
                  </a:srgbClr>
                </a:solidFill>
              </a:rPr>
              <a:t>数据库：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数据库这里使用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gorm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库来与数据库进行连接，先是使用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SQLite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做技术验证，完全可行；之后又使用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MySQL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采用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Docker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部署，同样完全可行。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C9AE5A-23FA-CCF6-BD0F-C6E741D2A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9543" y="2822258"/>
            <a:ext cx="526599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4F3E3A2-3E07-9E81-A27F-6F0B1A335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3051" y="2142150"/>
            <a:ext cx="5705703" cy="263762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9D6C69A3-283F-9C9E-4161-337A5C5AFA48}"/>
              </a:ext>
            </a:extLst>
          </p:cNvPr>
          <p:cNvSpPr/>
          <p:nvPr/>
        </p:nvSpPr>
        <p:spPr>
          <a:xfrm>
            <a:off x="9958388" y="556877"/>
            <a:ext cx="252412" cy="955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116725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ADEA5-8104-059E-219B-B13A3ED41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C2DFCEF-96FD-E5D3-AE97-96BFB4CCA29D}"/>
              </a:ext>
            </a:extLst>
          </p:cNvPr>
          <p:cNvSpPr/>
          <p:nvPr/>
        </p:nvSpPr>
        <p:spPr>
          <a:xfrm>
            <a:off x="0" y="0"/>
            <a:ext cx="12192000" cy="260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BB563D-9F70-0D3D-ED95-76F2DF71BCD1}"/>
              </a:ext>
            </a:extLst>
          </p:cNvPr>
          <p:cNvSpPr txBox="1"/>
          <p:nvPr/>
        </p:nvSpPr>
        <p:spPr>
          <a:xfrm>
            <a:off x="114300" y="556877"/>
            <a:ext cx="5314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r>
              <a:rPr lang="en-US" altLang="zh-CN" sz="3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4 </a:t>
            </a:r>
            <a:r>
              <a:rPr lang="zh-CN" altLang="en-US" sz="3600" b="1" dirty="0">
                <a:solidFill>
                  <a:srgbClr val="4472C4">
                    <a:lumMod val="60000"/>
                    <a:lumOff val="40000"/>
                  </a:srgbClr>
                </a:solidFill>
              </a:rPr>
              <a:t>概要</a:t>
            </a:r>
            <a:r>
              <a:rPr lang="zh-CN" altLang="en-US" sz="3600" b="1" dirty="0">
                <a:solidFill>
                  <a:srgbClr val="0B4FA1"/>
                </a:solidFill>
              </a:rPr>
              <a:t>设计与技术验证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B4FA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DD741EB-6E30-F9E9-9C4A-769CCE5CCE35}"/>
              </a:ext>
            </a:extLst>
          </p:cNvPr>
          <p:cNvSpPr txBox="1"/>
          <p:nvPr/>
        </p:nvSpPr>
        <p:spPr>
          <a:xfrm>
            <a:off x="546100" y="1426200"/>
            <a:ext cx="4486276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4.5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关键技术验证</a:t>
            </a:r>
            <a:r>
              <a:rPr lang="en-US" altLang="zh-CN" sz="2400" b="1" dirty="0">
                <a:solidFill>
                  <a:srgbClr val="5B9BD5">
                    <a:lumMod val="75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rgbClr val="5B9BD5">
                    <a:lumMod val="75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部署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AE1BED-550F-CE53-080C-5427F4878860}"/>
              </a:ext>
            </a:extLst>
          </p:cNvPr>
          <p:cNvSpPr/>
          <p:nvPr/>
        </p:nvSpPr>
        <p:spPr>
          <a:xfrm>
            <a:off x="0" y="1288186"/>
            <a:ext cx="4486276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6C97E1-1B84-1ED1-FF3F-11626E0C0861}"/>
              </a:ext>
            </a:extLst>
          </p:cNvPr>
          <p:cNvSpPr/>
          <p:nvPr/>
        </p:nvSpPr>
        <p:spPr>
          <a:xfrm>
            <a:off x="0" y="6301123"/>
            <a:ext cx="12192000" cy="6648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ED306F-0E70-9401-F285-2B8BAD180D9B}"/>
              </a:ext>
            </a:extLst>
          </p:cNvPr>
          <p:cNvSpPr txBox="1"/>
          <p:nvPr/>
        </p:nvSpPr>
        <p:spPr>
          <a:xfrm>
            <a:off x="546100" y="2016233"/>
            <a:ext cx="4737100" cy="1532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我成功部署、穿透并反向代理过多个网站，并撰写为相应的技术教程。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同时具有公网 </a:t>
            </a: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IP</a:t>
            </a: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、内网服务器、</a:t>
            </a: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Cloudflare </a:t>
            </a:r>
            <a:r>
              <a:rPr lang="zh-CN" altLang="en-US" sz="1600" dirty="0">
                <a:solidFill>
                  <a:srgbClr val="4472C4">
                    <a:lumMod val="50000"/>
                  </a:srgbClr>
                </a:solidFill>
                <a:latin typeface="等线" panose="020F0502020204030204"/>
                <a:ea typeface="等线" panose="02010600030101010101" pitchFamily="2" charset="-122"/>
              </a:rPr>
              <a:t>账户与域名，因此该技术可行。</a:t>
            </a:r>
            <a:endParaRPr lang="en-US" altLang="zh-CN" sz="1600" dirty="0">
              <a:solidFill>
                <a:srgbClr val="4472C4">
                  <a:lumMod val="50000"/>
                </a:srgbClr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C05117C-5AD6-A988-BFDE-A1ADE74AC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9543" y="2822258"/>
            <a:ext cx="526599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7F87943B-3656-F327-ADC7-CF85913AB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780" y="130175"/>
            <a:ext cx="7976325" cy="378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301FE16-B57B-41DF-CD73-9496F7647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8650" y="556875"/>
            <a:ext cx="425873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4D23D0DD-1FE6-D13A-8282-6EC861A93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074" y="2193598"/>
            <a:ext cx="9053628" cy="429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40B0F7CE-95A7-F680-29B4-D81879579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074" y="2193596"/>
            <a:ext cx="45085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823602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32C800BC-533B-43AF-85D8-150DBE58E677}"/>
              </a:ext>
            </a:extLst>
          </p:cNvPr>
          <p:cNvSpPr/>
          <p:nvPr/>
        </p:nvSpPr>
        <p:spPr>
          <a:xfrm rot="2685974">
            <a:off x="10373804" y="2520351"/>
            <a:ext cx="1218865" cy="1218865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D54FD1F-1BD1-46DD-8BEA-0FB07C193638}"/>
              </a:ext>
            </a:extLst>
          </p:cNvPr>
          <p:cNvSpPr/>
          <p:nvPr/>
        </p:nvSpPr>
        <p:spPr>
          <a:xfrm rot="2685974">
            <a:off x="8720253" y="3232035"/>
            <a:ext cx="438583" cy="4385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0D7B6C8-F3F7-461C-BA77-89925E8A1F6A}"/>
              </a:ext>
            </a:extLst>
          </p:cNvPr>
          <p:cNvSpPr/>
          <p:nvPr/>
        </p:nvSpPr>
        <p:spPr>
          <a:xfrm rot="2657183">
            <a:off x="7182832" y="1789192"/>
            <a:ext cx="641852" cy="5420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6F7C1B-7B4D-4368-81EF-33DD5F75A801}"/>
              </a:ext>
            </a:extLst>
          </p:cNvPr>
          <p:cNvSpPr/>
          <p:nvPr/>
        </p:nvSpPr>
        <p:spPr>
          <a:xfrm rot="2685974">
            <a:off x="6047028" y="1340629"/>
            <a:ext cx="340842" cy="3408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D6844DE-4EBC-40C1-835F-A2FB03722169}"/>
              </a:ext>
            </a:extLst>
          </p:cNvPr>
          <p:cNvSpPr/>
          <p:nvPr/>
        </p:nvSpPr>
        <p:spPr>
          <a:xfrm rot="2685974">
            <a:off x="6017998" y="739212"/>
            <a:ext cx="165230" cy="1652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1F4F336-4FE8-4718-95AD-B449DCAF81E6}"/>
              </a:ext>
            </a:extLst>
          </p:cNvPr>
          <p:cNvSpPr/>
          <p:nvPr/>
        </p:nvSpPr>
        <p:spPr>
          <a:xfrm rot="2685974">
            <a:off x="12264021" y="3630902"/>
            <a:ext cx="165230" cy="1652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C05803F-2D15-4A96-A822-1844933CC590}"/>
              </a:ext>
            </a:extLst>
          </p:cNvPr>
          <p:cNvSpPr/>
          <p:nvPr/>
        </p:nvSpPr>
        <p:spPr>
          <a:xfrm rot="2731766">
            <a:off x="7500243" y="2462623"/>
            <a:ext cx="1057417" cy="107229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E31345D-E24F-4948-BAB7-3EA033E87DFA}"/>
              </a:ext>
            </a:extLst>
          </p:cNvPr>
          <p:cNvSpPr/>
          <p:nvPr/>
        </p:nvSpPr>
        <p:spPr>
          <a:xfrm rot="2685974">
            <a:off x="6946862" y="3184101"/>
            <a:ext cx="438583" cy="4385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A33C445-1C0B-4828-978F-F4411F711E95}"/>
              </a:ext>
            </a:extLst>
          </p:cNvPr>
          <p:cNvSpPr/>
          <p:nvPr/>
        </p:nvSpPr>
        <p:spPr>
          <a:xfrm rot="2685974">
            <a:off x="6560996" y="3320778"/>
            <a:ext cx="165230" cy="1652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32" name="任意多边形 22">
            <a:extLst>
              <a:ext uri="{FF2B5EF4-FFF2-40B4-BE49-F238E27FC236}">
                <a16:creationId xmlns:a16="http://schemas.microsoft.com/office/drawing/2014/main" id="{DC0096C8-4E6B-4F3E-898A-30A903B12554}"/>
              </a:ext>
            </a:extLst>
          </p:cNvPr>
          <p:cNvSpPr/>
          <p:nvPr/>
        </p:nvSpPr>
        <p:spPr>
          <a:xfrm rot="2680233">
            <a:off x="6742255" y="4871839"/>
            <a:ext cx="7189231" cy="6330591"/>
          </a:xfrm>
          <a:custGeom>
            <a:avLst/>
            <a:gdLst>
              <a:gd name="connsiteX0" fmla="*/ 0 w 5393410"/>
              <a:gd name="connsiteY0" fmla="*/ 0 h 4749253"/>
              <a:gd name="connsiteX1" fmla="*/ 4406292 w 5393410"/>
              <a:gd name="connsiteY1" fmla="*/ 0 h 4749253"/>
              <a:gd name="connsiteX2" fmla="*/ 5393410 w 5393410"/>
              <a:gd name="connsiteY2" fmla="*/ 998536 h 4749253"/>
              <a:gd name="connsiteX3" fmla="*/ 1599309 w 5393410"/>
              <a:gd name="connsiteY3" fmla="*/ 4749253 h 4749253"/>
              <a:gd name="connsiteX4" fmla="*/ 0 w 5393410"/>
              <a:gd name="connsiteY4" fmla="*/ 4749253 h 4749253"/>
              <a:gd name="connsiteX0" fmla="*/ 0 w 5393410"/>
              <a:gd name="connsiteY0" fmla="*/ 0 h 4749253"/>
              <a:gd name="connsiteX1" fmla="*/ 4406292 w 5393410"/>
              <a:gd name="connsiteY1" fmla="*/ 0 h 4749253"/>
              <a:gd name="connsiteX2" fmla="*/ 5393410 w 5393410"/>
              <a:gd name="connsiteY2" fmla="*/ 998536 h 4749253"/>
              <a:gd name="connsiteX3" fmla="*/ 1599309 w 5393410"/>
              <a:gd name="connsiteY3" fmla="*/ 4749253 h 4749253"/>
              <a:gd name="connsiteX4" fmla="*/ 0 w 5393410"/>
              <a:gd name="connsiteY4" fmla="*/ 4749253 h 4749253"/>
              <a:gd name="connsiteX5" fmla="*/ 0 w 5393410"/>
              <a:gd name="connsiteY5" fmla="*/ 0 h 4749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3410" h="4749253">
                <a:moveTo>
                  <a:pt x="0" y="0"/>
                </a:moveTo>
                <a:lnTo>
                  <a:pt x="4406292" y="0"/>
                </a:lnTo>
                <a:lnTo>
                  <a:pt x="5393410" y="998536"/>
                </a:lnTo>
                <a:lnTo>
                  <a:pt x="1599309" y="4749253"/>
                </a:lnTo>
                <a:lnTo>
                  <a:pt x="0" y="4749253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F5D95AC-59FA-44A9-BA7E-BDE08830519E}"/>
              </a:ext>
            </a:extLst>
          </p:cNvPr>
          <p:cNvCxnSpPr/>
          <p:nvPr/>
        </p:nvCxnSpPr>
        <p:spPr>
          <a:xfrm>
            <a:off x="10000405" y="3597100"/>
            <a:ext cx="4182370" cy="408197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7CBDEB0-117F-4811-B8B4-3FE13F1D39D7}"/>
              </a:ext>
            </a:extLst>
          </p:cNvPr>
          <p:cNvCxnSpPr/>
          <p:nvPr/>
        </p:nvCxnSpPr>
        <p:spPr>
          <a:xfrm flipH="1">
            <a:off x="5930049" y="3637305"/>
            <a:ext cx="4072194" cy="4090116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F68D335-2327-4712-B1DE-0B4438161C43}"/>
              </a:ext>
            </a:extLst>
          </p:cNvPr>
          <p:cNvCxnSpPr/>
          <p:nvPr/>
        </p:nvCxnSpPr>
        <p:spPr>
          <a:xfrm>
            <a:off x="5047898" y="7738822"/>
            <a:ext cx="4182370" cy="408197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27">
            <a:extLst>
              <a:ext uri="{FF2B5EF4-FFF2-40B4-BE49-F238E27FC236}">
                <a16:creationId xmlns:a16="http://schemas.microsoft.com/office/drawing/2014/main" id="{898B8479-324D-4881-B798-82BBE77AB328}"/>
              </a:ext>
            </a:extLst>
          </p:cNvPr>
          <p:cNvSpPr txBox="1"/>
          <p:nvPr/>
        </p:nvSpPr>
        <p:spPr>
          <a:xfrm>
            <a:off x="384080" y="2944236"/>
            <a:ext cx="8926531" cy="971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715" b="1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恳请老师批评指正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2D1271C-BD51-491D-AD03-CDF6F654D363}"/>
              </a:ext>
            </a:extLst>
          </p:cNvPr>
          <p:cNvCxnSpPr>
            <a:cxnSpLocks/>
          </p:cNvCxnSpPr>
          <p:nvPr/>
        </p:nvCxnSpPr>
        <p:spPr>
          <a:xfrm>
            <a:off x="841251" y="4120010"/>
            <a:ext cx="471397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00A6630A-E523-48F7-8CF5-548EBE7AFDA5}"/>
              </a:ext>
            </a:extLst>
          </p:cNvPr>
          <p:cNvSpPr/>
          <p:nvPr/>
        </p:nvSpPr>
        <p:spPr bwMode="auto">
          <a:xfrm>
            <a:off x="9650110" y="-6667"/>
            <a:ext cx="3420547" cy="4092561"/>
          </a:xfrm>
          <a:custGeom>
            <a:avLst/>
            <a:gdLst>
              <a:gd name="connsiteX0" fmla="*/ 3232150 w 3232150"/>
              <a:gd name="connsiteY0" fmla="*/ 3867150 h 3867150"/>
              <a:gd name="connsiteX1" fmla="*/ 3232150 w 3232150"/>
              <a:gd name="connsiteY1" fmla="*/ 0 h 3867150"/>
              <a:gd name="connsiteX2" fmla="*/ 584200 w 3232150"/>
              <a:gd name="connsiteY2" fmla="*/ 0 h 3867150"/>
              <a:gd name="connsiteX3" fmla="*/ 0 w 3232150"/>
              <a:gd name="connsiteY3" fmla="*/ 584200 h 3867150"/>
              <a:gd name="connsiteX4" fmla="*/ 3232150 w 3232150"/>
              <a:gd name="connsiteY4" fmla="*/ 3867150 h 386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2150" h="3867150">
                <a:moveTo>
                  <a:pt x="3232150" y="3867150"/>
                </a:moveTo>
                <a:lnTo>
                  <a:pt x="3232150" y="0"/>
                </a:lnTo>
                <a:lnTo>
                  <a:pt x="584200" y="0"/>
                </a:lnTo>
                <a:lnTo>
                  <a:pt x="0" y="584200"/>
                </a:lnTo>
                <a:lnTo>
                  <a:pt x="3232150" y="3867150"/>
                </a:lnTo>
                <a:close/>
              </a:path>
            </a:pathLst>
          </a:custGeom>
          <a:blipFill>
            <a:blip r:embed="rId3"/>
            <a:stretch>
              <a:fillRect l="-102050" t="-6117" r="-12114" b="-33739"/>
            </a:stretch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967710" fontAlgn="base">
              <a:spcBef>
                <a:spcPct val="0"/>
              </a:spcBef>
              <a:spcAft>
                <a:spcPct val="0"/>
              </a:spcAft>
            </a:pPr>
            <a:endParaRPr lang="zh-CN" altLang="en-US" sz="1905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6BB9C36-8031-49D4-8FBE-5E9A15FBA980}"/>
              </a:ext>
            </a:extLst>
          </p:cNvPr>
          <p:cNvSpPr/>
          <p:nvPr/>
        </p:nvSpPr>
        <p:spPr bwMode="auto">
          <a:xfrm rot="2700000">
            <a:off x="8554878" y="1149206"/>
            <a:ext cx="1929448" cy="1929448"/>
          </a:xfrm>
          <a:prstGeom prst="rect">
            <a:avLst/>
          </a:prstGeom>
          <a:blipFill dpi="0" rotWithShape="0">
            <a:blip r:embed="rId3"/>
            <a:srcRect/>
            <a:stretch>
              <a:fillRect l="-71077" t="-28837" r="-93481" b="-43929"/>
            </a:stretch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967710" fontAlgn="base">
              <a:spcBef>
                <a:spcPct val="0"/>
              </a:spcBef>
              <a:spcAft>
                <a:spcPct val="0"/>
              </a:spcAft>
            </a:pPr>
            <a:endParaRPr lang="zh-CN" altLang="en-US" sz="1905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16C50CF5-CA5B-48EE-AC65-94B52DA41B49}"/>
              </a:ext>
            </a:extLst>
          </p:cNvPr>
          <p:cNvSpPr/>
          <p:nvPr/>
        </p:nvSpPr>
        <p:spPr bwMode="auto">
          <a:xfrm>
            <a:off x="8152288" y="53"/>
            <a:ext cx="1895077" cy="947539"/>
          </a:xfrm>
          <a:custGeom>
            <a:avLst/>
            <a:gdLst>
              <a:gd name="connsiteX0" fmla="*/ 0 w 1790700"/>
              <a:gd name="connsiteY0" fmla="*/ 0 h 895350"/>
              <a:gd name="connsiteX1" fmla="*/ 1790700 w 1790700"/>
              <a:gd name="connsiteY1" fmla="*/ 0 h 895350"/>
              <a:gd name="connsiteX2" fmla="*/ 895350 w 1790700"/>
              <a:gd name="connsiteY2" fmla="*/ 895350 h 895350"/>
              <a:gd name="connsiteX3" fmla="*/ 0 w 1790700"/>
              <a:gd name="connsiteY3" fmla="*/ 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0700" h="895350">
                <a:moveTo>
                  <a:pt x="0" y="0"/>
                </a:moveTo>
                <a:lnTo>
                  <a:pt x="1790700" y="0"/>
                </a:lnTo>
                <a:lnTo>
                  <a:pt x="89535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783" t="-709" r="-160105" b="-371657"/>
            </a:stretch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967710" fontAlgn="base">
              <a:spcBef>
                <a:spcPct val="0"/>
              </a:spcBef>
              <a:spcAft>
                <a:spcPct val="0"/>
              </a:spcAft>
            </a:pPr>
            <a:endParaRPr lang="zh-CN" altLang="en-US" sz="1905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D8C4B9C-127F-437D-BEB3-FBAAFCD3E13C}"/>
              </a:ext>
            </a:extLst>
          </p:cNvPr>
          <p:cNvSpPr/>
          <p:nvPr/>
        </p:nvSpPr>
        <p:spPr bwMode="auto">
          <a:xfrm rot="2700000">
            <a:off x="7368497" y="386244"/>
            <a:ext cx="1311188" cy="1311188"/>
          </a:xfrm>
          <a:prstGeom prst="rect">
            <a:avLst/>
          </a:prstGeom>
          <a:blipFill dpi="0" rotWithShape="0">
            <a:blip r:embed="rId3"/>
            <a:srcRect/>
            <a:stretch>
              <a:fillRect l="-38622" t="-12637" r="-222155" b="-122964"/>
            </a:stretch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967710" fontAlgn="base">
              <a:spcBef>
                <a:spcPct val="0"/>
              </a:spcBef>
              <a:spcAft>
                <a:spcPct val="0"/>
              </a:spcAft>
            </a:pPr>
            <a:endParaRPr lang="zh-CN" altLang="en-US" sz="1905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98E2426-EA7C-4017-9741-9465301E9F8F}"/>
              </a:ext>
            </a:extLst>
          </p:cNvPr>
          <p:cNvSpPr/>
          <p:nvPr/>
        </p:nvSpPr>
        <p:spPr bwMode="auto">
          <a:xfrm rot="2700000">
            <a:off x="6671813" y="1224038"/>
            <a:ext cx="601986" cy="60198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967710" fontAlgn="base">
              <a:spcBef>
                <a:spcPct val="0"/>
              </a:spcBef>
              <a:spcAft>
                <a:spcPct val="0"/>
              </a:spcAft>
            </a:pPr>
            <a:endParaRPr lang="zh-CN" altLang="en-US" sz="1905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6" name="任意多边形 22">
            <a:extLst>
              <a:ext uri="{FF2B5EF4-FFF2-40B4-BE49-F238E27FC236}">
                <a16:creationId xmlns:a16="http://schemas.microsoft.com/office/drawing/2014/main" id="{28CB431E-D848-4F55-A829-F4659A146ADC}"/>
              </a:ext>
            </a:extLst>
          </p:cNvPr>
          <p:cNvSpPr/>
          <p:nvPr/>
        </p:nvSpPr>
        <p:spPr>
          <a:xfrm rot="2680233">
            <a:off x="6903538" y="5033122"/>
            <a:ext cx="7189231" cy="6330591"/>
          </a:xfrm>
          <a:custGeom>
            <a:avLst/>
            <a:gdLst>
              <a:gd name="connsiteX0" fmla="*/ 0 w 5393410"/>
              <a:gd name="connsiteY0" fmla="*/ 0 h 4749253"/>
              <a:gd name="connsiteX1" fmla="*/ 4406292 w 5393410"/>
              <a:gd name="connsiteY1" fmla="*/ 0 h 4749253"/>
              <a:gd name="connsiteX2" fmla="*/ 5393410 w 5393410"/>
              <a:gd name="connsiteY2" fmla="*/ 998536 h 4749253"/>
              <a:gd name="connsiteX3" fmla="*/ 1599309 w 5393410"/>
              <a:gd name="connsiteY3" fmla="*/ 4749253 h 4749253"/>
              <a:gd name="connsiteX4" fmla="*/ 0 w 5393410"/>
              <a:gd name="connsiteY4" fmla="*/ 4749253 h 4749253"/>
              <a:gd name="connsiteX0" fmla="*/ 0 w 5393410"/>
              <a:gd name="connsiteY0" fmla="*/ 0 h 4749253"/>
              <a:gd name="connsiteX1" fmla="*/ 4406292 w 5393410"/>
              <a:gd name="connsiteY1" fmla="*/ 0 h 4749253"/>
              <a:gd name="connsiteX2" fmla="*/ 5393410 w 5393410"/>
              <a:gd name="connsiteY2" fmla="*/ 998536 h 4749253"/>
              <a:gd name="connsiteX3" fmla="*/ 1599309 w 5393410"/>
              <a:gd name="connsiteY3" fmla="*/ 4749253 h 4749253"/>
              <a:gd name="connsiteX4" fmla="*/ 0 w 5393410"/>
              <a:gd name="connsiteY4" fmla="*/ 4749253 h 4749253"/>
              <a:gd name="connsiteX5" fmla="*/ 0 w 5393410"/>
              <a:gd name="connsiteY5" fmla="*/ 0 h 4749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3410" h="4749253">
                <a:moveTo>
                  <a:pt x="0" y="0"/>
                </a:moveTo>
                <a:lnTo>
                  <a:pt x="4406292" y="0"/>
                </a:lnTo>
                <a:lnTo>
                  <a:pt x="5393410" y="998536"/>
                </a:lnTo>
                <a:lnTo>
                  <a:pt x="1599309" y="4749253"/>
                </a:lnTo>
                <a:lnTo>
                  <a:pt x="0" y="4749253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stretch>
              <a:fillRect l="2538" t="27360" b="3758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D806BBAE-32A0-4361-900A-A9F11B80B0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14" y="422650"/>
            <a:ext cx="2661172" cy="79835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C849F36-C02D-5C9F-3476-3B8F7245F98A}"/>
              </a:ext>
            </a:extLst>
          </p:cNvPr>
          <p:cNvSpPr/>
          <p:nvPr/>
        </p:nvSpPr>
        <p:spPr>
          <a:xfrm>
            <a:off x="320978" y="4614392"/>
            <a:ext cx="1803699" cy="418191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b="1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主讲人：   张福轩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3BC8EE-2886-1C1E-313C-10124C18F0D7}"/>
              </a:ext>
            </a:extLst>
          </p:cNvPr>
          <p:cNvSpPr/>
          <p:nvPr/>
        </p:nvSpPr>
        <p:spPr>
          <a:xfrm>
            <a:off x="378686" y="5086576"/>
            <a:ext cx="800087" cy="539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5" rIns="91434" bIns="45715" anchor="ctr"/>
          <a:lstStyle/>
          <a:p>
            <a:pPr algn="ctr">
              <a:defRPr/>
            </a:pP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32DCBC-9E63-24C1-8299-D0ACA351E7CA}"/>
              </a:ext>
            </a:extLst>
          </p:cNvPr>
          <p:cNvSpPr/>
          <p:nvPr/>
        </p:nvSpPr>
        <p:spPr>
          <a:xfrm>
            <a:off x="1197824" y="5086576"/>
            <a:ext cx="1620813" cy="5397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5" rIns="91434" bIns="45715" anchor="ctr"/>
          <a:lstStyle/>
          <a:p>
            <a:pPr algn="ctr">
              <a:defRPr/>
            </a:pPr>
            <a:endParaRPr lang="zh-CN" altLang="en-US" sz="2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B4FA1"/>
      </a:accent6>
      <a:hlink>
        <a:srgbClr val="6B9F25"/>
      </a:hlink>
      <a:folHlink>
        <a:srgbClr val="0B4FA1"/>
      </a:folHlink>
    </a:clrScheme>
    <a:fontScheme name="自定义 1">
      <a:majorFont>
        <a:latin typeface="DIN Black"/>
        <a:ea typeface="思源黑体 CN Bold"/>
        <a:cs typeface=""/>
      </a:majorFont>
      <a:minorFont>
        <a:latin typeface="DIN"/>
        <a:ea typeface="思源黑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1972</TotalTime>
  <Words>2822</Words>
  <Application>Microsoft Office PowerPoint</Application>
  <PresentationFormat>宽屏</PresentationFormat>
  <Paragraphs>267</Paragraphs>
  <Slides>27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DIN</vt:lpstr>
      <vt:lpstr>DIN Black</vt:lpstr>
      <vt:lpstr>等线</vt:lpstr>
      <vt:lpstr>等线 Light</vt:lpstr>
      <vt:lpstr>思源黑体 CN Bold</vt:lpstr>
      <vt:lpstr>思源黑体 CN Heavy</vt:lpstr>
      <vt:lpstr>思源宋体 CN Heavy</vt:lpstr>
      <vt:lpstr>微软雅黑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Fuxuan Zhang</dc:creator>
  <cp:lastModifiedBy>Fuxuan Zhang</cp:lastModifiedBy>
  <cp:revision>124</cp:revision>
  <dcterms:created xsi:type="dcterms:W3CDTF">2025-04-28T10:51:17Z</dcterms:created>
  <dcterms:modified xsi:type="dcterms:W3CDTF">2025-11-19T13:56:06Z</dcterms:modified>
</cp:coreProperties>
</file>